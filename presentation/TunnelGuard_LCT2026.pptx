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88" r:id="rId57"/>
    <p:sldId id="389" r:id="rId58"/>
    <p:sldId id="390" r:id="rId59"/>
    <p:sldId id="391" r:id="rId60"/>
    <p:sldId id="392" r:id="rId61"/>
    <p:sldId id="393" r:id="rId62"/>
    <p:sldId id="394" r:id="rId63"/>
    <p:sldId id="395" r:id="rId64"/>
    <p:sldId id="396" r:id="rId65"/>
    <p:sldId id="397" r:id="rId66"/>
    <p:sldId id="398" r:id="rId67"/>
    <p:sldId id="399" r:id="rId68"/>
    <p:sldId id="400" r:id="rId69"/>
    <p:sldId id="401" r:id="rId70"/>
    <p:sldId id="402" r:id="rId71"/>
    <p:sldId id="403" r:id="rId72"/>
    <p:sldId id="404" r:id="rId73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2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2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2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3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3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3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33.png"/><Relationship Id="rId3" Type="http://schemas.openxmlformats.org/officeDocument/2006/relationships/image" Target="../media/image834.png"/><Relationship Id="rId4" Type="http://schemas.openxmlformats.org/officeDocument/2006/relationships/image" Target="../media/image835.png"/><Relationship Id="rId5" Type="http://schemas.openxmlformats.org/officeDocument/2006/relationships/image" Target="../media/image83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3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3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3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4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4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4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4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4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4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4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4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t>[НАЗВАНИЕ КОМАНДЫ]</a:t>
            </a:r>
            <a:endParaRPr lang="ru-RU" sz="4800" dirty="0"/>
          </a:p>
        </p:txBody>
      </p:sp>
      <p:pic>
        <p:nvPicPr>
          <p:cNvPr id="4" name="Рисунок 3" descr="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11871" b="11871"/>
          <a:stretch>
            <a:fillRect/>
          </a:stretch>
        </p:blipFill>
        <p:spPr/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t>TunnelGuard — обнаружение посторонних объектов в габарите беспилотного поезда метро по данным 3D-лидара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  <p:txBody>
          <a:bodyPr/>
          <a:p/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100">
                <a:solidFill>
                  <a:srgbClr val="FFFFFF"/>
                </a:solidFill>
              </a:rPr>
              <a:t>Мы не распознаём классы объектов — мы моделируем «нормальный тоннель» и физику лидара, а ML лишь уточняет решение. На новой линии (запечатанный тест) — 1.8 ложных остановки на км, в 6 раз меньше прежнего; реальный человек в габарите — STOP на 55.5 м в 58 из 60 кадров.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ФИО, специальность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__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как образовалась команда?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место работы/учебы участников?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t>[Название команды]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100">
                <a:solidFill>
                  <a:srgbClr val="FFFFFF"/>
                </a:solidFill>
              </a:rPr>
              <a:t>Лидар сам восстанавливает путь и сечение тоннеля до горизонта видимости и в каждом кадре отвечает: есть ли в габарите поезда что-то постороннее, на каком расстоянии и насколько далеко путь проверен свободным.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Ник в мессенджере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О КОМАНДЕ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Расскажите, как вы собрались, участвовали ли вместе в прошлых хакатонах или проектах, интересные факты о команде.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200">
                <a:solidFill>
                  <a:srgbClr val="FFFFFF"/>
                </a:solidFill>
              </a:rPr>
              <a:t>23 ГБ записей при 3 ГБ свободного диска: написали потоковый разбор SQLite прямо из архива. Кривые, стрелки, станции ломали геометрию — каждый класс ошибок закрыли физическим принципом. Запись с людьми держали как отложенный тест.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200">
                <a:solidFill>
                  <a:srgbClr val="FFFFFF"/>
                </a:solidFill>
              </a:rPr>
              <a:t>Ошибка стоит дорого в обе стороны: пропуск — угроза людям, ложная тревога — остановка линии. Хотелось решить задачу не «чёрным ящиком», а объяснимой физикой тоннеля.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350" dirty="0">
                <a:solidFill>
                  <a:schemeClr val="tx1"/>
                </a:solidFill>
              </a:rPr>
              <a:t>ROS 2 Humble + Docker; вход — любой PointCloud2, выход — ObstacleStatus, vision_msgs, маркеры RViz2.</a:t>
            </a:r>
          </a:p>
          <a:p>
            <a:r>
              <a:rPr lang="ru-RU" sz="1350" dirty="0">
                <a:solidFill>
                  <a:schemeClr val="tx1"/>
                </a:solidFill>
              </a:rPr>
              <a:t>Путь из лидара в каждом кадре: рельсы (DP) → шаблон сечения → глобальный DP → Гаусс–Ньютон с клотоидой и σ(x).</a:t>
            </a:r>
          </a:p>
          <a:p>
            <a:r>
              <a:rPr lang="ru-RU" sz="1350" dirty="0">
                <a:solidFill>
                  <a:schemeClr val="tx1"/>
                </a:solidFill>
              </a:rPr>
              <a:t>STOP — только при уверенном (2σ) нахождении в габарите; дальше 30 м — гибрид с ансамблем ML.</a:t>
            </a:r>
          </a:p>
          <a:p>
            <a:r>
              <a:rPr lang="ru-RU" sz="1350" dirty="0">
                <a:solidFill>
                  <a:schemeClr val="tx1"/>
                </a:solidFill>
              </a:rPr>
              <a:t>Итог: 1.8 ложных остановки на км новой линии (было 10.3); человек в габарите — 58/60 кадров, STOP на 55.5 м; 56–70 мс на кадр.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350" dirty="0">
                <a:solidFill>
                  <a:schemeClr val="tx1"/>
                </a:solidFill>
              </a:rPr>
              <a:t>«Второй машинист», который не устаёт: ранний STOP и расстояние до препятствия для системы торможения.</a:t>
            </a:r>
          </a:p>
          <a:p>
            <a:r>
              <a:rPr lang="ru-RU" sz="1350" dirty="0">
                <a:solidFill>
                  <a:schemeClr val="tx1"/>
                </a:solidFill>
              </a:rPr>
              <a:t>Установка на новый состав без ручной настройки: авто-поиск топика и оси лидара, калибровка по рельсам.</a:t>
            </a:r>
          </a:p>
          <a:p>
            <a:r>
              <a:rPr lang="ru-RU" sz="1350" dirty="0">
                <a:solidFill>
                  <a:schemeClr val="tx1"/>
                </a:solidFill>
              </a:rPr>
              <a:t>Объяснимость для сертификации: каждое решение трассируется до геометрии и неопределённости.</a:t>
            </a:r>
          </a:p>
          <a:p>
            <a:r>
              <a:rPr lang="ru-RU" sz="1350" dirty="0">
                <a:solidFill>
                  <a:schemeClr val="tx1"/>
                </a:solidFill>
              </a:rPr>
              <a:t>Развитие: C++/CUDA-ядро, слияние с камерой, карта тоннеля, мониторинг инфраструктуры.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16855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ПРОБЛЕМА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224000"/>
            <a:ext cx="3707999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0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2015999"/>
            <a:ext cx="3347999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520977"/>
                </a:solidFill>
                <a:latin typeface="Montserrat"/>
              </a:rPr>
              <a:t>Тоннель — не дорога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2880000"/>
            <a:ext cx="3347999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Кривые R ≈ 300–1000 м, уклоны и «горбы» станций, стрелки, платформы, колонны между путями.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Прямоугольник «перед поездом» либо тонет в ложных тревогах на кривой, либо смотрит мимо пути.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48000" y="1224000"/>
            <a:ext cx="3707999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428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8000" y="2015999"/>
            <a:ext cx="3347999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520977"/>
                </a:solidFill>
                <a:latin typeface="Montserrat"/>
              </a:rPr>
              <a:t>На 200 м — единицы точек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8000" y="2880000"/>
            <a:ext cx="3347999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Pandar128: 0.125° по вертикали — на 160 м шаг лучей 0.35 м, человек даёт ≈ 9 отражений.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Стены видны под скользящим углом, дальняя геометрия пути неоднозначна.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5999" y="1224000"/>
            <a:ext cx="3707999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15999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5999" y="2015999"/>
            <a:ext cx="3347999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520977"/>
                </a:solidFill>
                <a:latin typeface="Montserrat"/>
              </a:rPr>
              <a:t>Ложная тревога = остановка линии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5999" y="2880000"/>
            <a:ext cx="3347999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Большинство записей — пустой тоннель: размеченных препятствий почти нет.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Нужен не только ответ «есть / нет», но и честная оценка: насколько далеко путь действительно проверен.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134015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ИДЕЯ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0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Путь из данных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Рельсы, сечение тоннеля, кривизна, уклон и крен восстанавливаются лидаром в каждом кадре — без карт и калибровки.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76000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456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000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Габарит из данных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000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Свободное пространство всех записей в координатах пути задаёт форму габарита: контактный рельс, платформы, стены, свод.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2000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72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2000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Решение с 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2000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У каждой точки пути есть неопределённость σ(x). STOP — только если объект внутри габарита, сжатого на 2σ, и в пределах измеренной дальности.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07999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287999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7999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Физика +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7999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Инварианты: объект не «сдвигает» путь, инфраструктура крепится к оболочке. Ансамбль ML на физических признаках отсеивает ложные кластеры дальше 30 м.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54539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АРХИТЕКТУРА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11484000" cy="4464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871" y="1314000"/>
            <a:ext cx="9964257" cy="4212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60000" y="5796000"/>
            <a:ext cx="10800000" cy="54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3999" y="5796000"/>
            <a:ext cx="10512000" cy="540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Запуск: </a:t>
            </a:r>
            <a:r>
              <a:rPr sz="1200" b="0">
                <a:solidFill>
                  <a:srgbClr val="1C1D22"/>
                </a:solidFill>
                <a:latin typeface="Montserrat"/>
              </a:rPr>
              <a:t>docker build → docker run → ros2 bag play → /tunnel_guard/status.  </a:t>
            </a:r>
            <a:r>
              <a:rPr sz="1200" b="1">
                <a:solidFill>
                  <a:srgbClr val="520977"/>
                </a:solidFill>
                <a:latin typeface="Montserrat"/>
              </a:rPr>
              <a:t>Одно ядро</a:t>
            </a:r>
            <a:r>
              <a:rPr sz="1200" b="0">
                <a:solidFill>
                  <a:srgbClr val="1C1D22"/>
                </a:solidFill>
                <a:latin typeface="Montserrat"/>
              </a:rPr>
              <a:t> без зависимостей от ROS: узел, оффлайн-оценка evaluate_bag и 10 тестов pytest.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07529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ГЕОМЕТРИЯ ПУТИ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7703999" cy="331199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0" y="1527255"/>
            <a:ext cx="7452000" cy="263348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243999" y="1188000"/>
            <a:ext cx="3600000" cy="51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24000" y="1332000"/>
            <a:ext cx="3240000" cy="4860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Как восстанавливается путь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1C1D22"/>
                </a:solidFill>
                <a:latin typeface="Montserrat"/>
              </a:rPr>
              <a:t>Рельсы 3–45 м: </a:t>
            </a:r>
            <a:r>
              <a:rPr sz="1100" b="0">
                <a:solidFill>
                  <a:srgbClr val="1C1D22"/>
                </a:solidFill>
                <a:latin typeface="Montserrat"/>
              </a:rPr>
              <a:t>гребни BEV + пара рельсов 1520 мм, глобальный DP Витерби.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1C1D22"/>
                </a:solidFill>
                <a:latin typeface="Montserrat"/>
              </a:rPr>
              <a:t>Шаблон сечения: </a:t>
            </a:r>
            <a:r>
              <a:rPr sz="1100" b="0">
                <a:solidFill>
                  <a:srgbClr val="1C1D22"/>
                </a:solidFill>
                <a:latin typeface="Montserrat"/>
              </a:rPr>
              <a:t>ближние точки в координатах пути — модель «нормального тоннеля».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1C1D22"/>
                </a:solidFill>
                <a:latin typeface="Montserrat"/>
              </a:rPr>
              <a:t>Глобальный DP до 300 м: </a:t>
            </a:r>
            <a:r>
              <a:rPr sz="1100" b="0">
                <a:solidFill>
                  <a:srgbClr val="1C1D22"/>
                </a:solidFill>
                <a:latin typeface="Montserrat"/>
              </a:rPr>
              <a:t>путь не может уйти вбок на метры — компактный объект его не изогнёт.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1C1D22"/>
                </a:solidFill>
                <a:latin typeface="Montserrat"/>
              </a:rPr>
              <a:t>Гаусс–Ньютон: </a:t>
            </a:r>
            <a:r>
              <a:rPr sz="1100" b="0">
                <a:solidFill>
                  <a:srgbClr val="1C1D22"/>
                </a:solidFill>
                <a:latin typeface="Montserrat"/>
              </a:rPr>
              <a:t>каждая точка ложится на шаблон; клотоидный априор, веса Тьюки.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1C1D22"/>
                </a:solidFill>
                <a:latin typeface="Montserrat"/>
              </a:rPr>
              <a:t>Инвариантность: </a:t>
            </a:r>
            <a:r>
              <a:rPr sz="1100" b="0">
                <a:solidFill>
                  <a:srgbClr val="1C1D22"/>
                </a:solidFill>
                <a:latin typeface="Montserrat"/>
              </a:rPr>
              <a:t>точки внутри габарита не участвуют в оценке пути.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1C1D22"/>
                </a:solidFill>
                <a:latin typeface="Montserrat"/>
              </a:rPr>
              <a:t>Калман по времени: </a:t>
            </a:r>
            <a:r>
              <a:rPr sz="1100" b="0">
                <a:solidFill>
                  <a:srgbClr val="1C1D22"/>
                </a:solidFill>
                <a:latin typeface="Montserrat"/>
              </a:rPr>
              <a:t>сливается только измеренное; экстраполяция растит σ.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0000" y="4644000"/>
            <a:ext cx="7703999" cy="16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0000" y="4734000"/>
            <a:ext cx="7343999" cy="154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Проверено на синтетическом тоннеле с эталонной геометрией и лучевым моделированием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Человек на 160 м больше не смещает оценку пути (ошибка &lt; 10 см). Видимость на кривой ограничена хордой √(8RW) — дальше неё путь физически закрыт стеной, и решение честно ограничивается этой дальностью.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65335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ГАБАРИТ ИЗ ДАННЫХ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5472000" cy="5148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enve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0" y="1828024"/>
            <a:ext cx="5220000" cy="386795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012000" y="1188000"/>
            <a:ext cx="5832000" cy="51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28000" y="1368000"/>
            <a:ext cx="5400000" cy="482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Что измерено по всем записям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Контактный рельс: |l| = 1.22 м на высоте 0.2–0.45 м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Край платформы: ≥ 1.37 м (h 0.6–1.4 м)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Стены: ≥ 1.48 м; свод круглого тоннеля 1.18 м на высоте 3.43 м; потолок прямоугольного 3.8 м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Объекты ниже 0.15 м над головкой рельса игнорируются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Зоны решения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ВНУТРИ</a:t>
            </a:r>
            <a:r>
              <a:rPr sz="1200" b="0">
                <a:solidFill>
                  <a:srgbClr val="1C1D22"/>
                </a:solidFill>
                <a:latin typeface="Montserrat"/>
              </a:rPr>
              <a:t> — внутри габарита, сжатого на 2σ → кандидат в STOP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РЯДОМ</a:t>
            </a:r>
            <a:r>
              <a:rPr sz="1200" b="0">
                <a:solidFill>
                  <a:srgbClr val="1C1D22"/>
                </a:solidFill>
                <a:latin typeface="Montserrat"/>
              </a:rPr>
              <a:t> — касание в пределах погрешности → CAUTION (информирует, не тормозит)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Габарит обнаружения лежит внутри свободного пространства всех тоннелей — поезда физически проходят через него.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54716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ФИЗИКА + ML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11484000" cy="3384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798" y="1314000"/>
            <a:ext cx="8806402" cy="3132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60000" y="4716000"/>
            <a:ext cx="3708000" cy="162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3999" y="4788000"/>
            <a:ext cx="3420000" cy="1512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Данные без утечки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38 физических признаков кластера. Негативы — все кандидаты 5 пустых записей; позитивы — лучевое моделирование объектов в реальных лучах. Запись с людьми не используется.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48000" y="4716000"/>
            <a:ext cx="3708000" cy="162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392000" y="4788000"/>
            <a:ext cx="3420000" cy="1512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Честная проверка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Обучение на 4 тоннелях — тест на 5-м (leave-one-tunnel-out), порог — вложенной CV. Сравнение на уровне решений: ложные STOP-кадры и полнота.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6000" y="4716000"/>
            <a:ext cx="3708000" cy="162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80000" y="4788000"/>
            <a:ext cx="3420000" cy="1512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Две модели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v1: ⅓·LightGBM + ⅓·CatBoost + ⅓·PI-MLP (датасет 1). Финал: ½·LightGBM + ½·CatBoost + ЭГО-тест (датасеты 1 + 2). До 30 м решают правила; вывод на numpy (JSON 0.3 МБ).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179846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МОДЕЛЬ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8063999" cy="3744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model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18" y="1314000"/>
            <a:ext cx="7612762" cy="3492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604000" y="1188000"/>
            <a:ext cx="3240000" cy="51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784000" y="1332000"/>
            <a:ext cx="2880000" cy="489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Финальная модель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FF0053"/>
                </a:solidFill>
                <a:latin typeface="Montserrat"/>
              </a:rPr>
              <a:t>Роутер двух ансамблей ½·LightGBM + ½·CatBoost + ЭГО-тест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1C1D22"/>
                </a:solidFill>
                <a:latin typeface="Montserrat"/>
              </a:rPr>
              <a:t>Роутер: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кандидат на полу → эксперт по людям и коробкам; низом ≥ 0.5 м → эксперт по парящим и висящим объектам. У каждого свой порог вне фолда.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1C1D22"/>
                </a:solidFill>
                <a:latin typeface="Montserrat"/>
              </a:rPr>
              <a:t>LightGBM </a:t>
            </a:r>
            <a:r>
              <a:rPr sz="1050" b="0">
                <a:solidFill>
                  <a:srgbClr val="1C1D22"/>
                </a:solidFill>
                <a:latin typeface="Montserrat"/>
              </a:rPr>
              <a:t>с ограничениями монотонности: больше точек в габарите (у эксперта «на полу» — и опоры на пол) — оценка не может упасть.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1C1D22"/>
                </a:solidFill>
                <a:latin typeface="Montserrat"/>
              </a:rPr>
              <a:t>CatBoost </a:t>
            </a:r>
            <a:r>
              <a:rPr sz="1050" b="0">
                <a:solidFill>
                  <a:srgbClr val="1C1D22"/>
                </a:solidFill>
                <a:latin typeface="Montserrat"/>
              </a:rPr>
              <a:t>— симметричные деревья, устойчивы к шуму.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1C1D22"/>
                </a:solidFill>
                <a:latin typeface="Montserrat"/>
              </a:rPr>
              <a:t>ЭГО-тест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без обучения: по лидарной одометрии объект обязан приближаться со скоростью поезда; «едущий» с поездом артефакт → только ВНИМАНИЕ.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v1 (прежняя)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⅓·LightGBM + ⅓·CatBoost + ⅓·PI-MLP (физически-информированная нейросеть). PI-MLP убран: вне фолда не дал прироста.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0000" y="5076000"/>
            <a:ext cx="8063999" cy="126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3999" y="5076000"/>
            <a:ext cx="7775999" cy="1260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Оба ансамбля работают поверх одного физического слоя. Итоговая оценка — взвешенное среднее логитов членов, сглаженное по 5 кадрам трека; STOP дальше 30 м — только при оценке ≥ порога и без вето оболочки тоннеля.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96207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ВЕСА АНСАМБЛЯ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11484000" cy="3564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weight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519" y="1314000"/>
            <a:ext cx="9118960" cy="3312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60000" y="4896000"/>
            <a:ext cx="3708000" cy="144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3999" y="4950000"/>
            <a:ext cx="3420000" cy="136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>
                <a:solidFill>
                  <a:srgbClr val="520977"/>
                </a:solidFill>
                <a:latin typeface="Montserrat"/>
              </a:rPr>
              <a:t>Метод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30" b="0">
                <a:solidFill>
                  <a:srgbClr val="1C1D22"/>
                </a:solidFill>
                <a:latin typeface="Montserrat"/>
              </a:rPr>
              <a:t>Групповая проверка вне фолда: 8 групп (5 тоннелей + 3 блока новой линии), w₁ = 0…1 с шагом 0.1, w₂ = 1 − w₁. Порог каждого фолда — только на обучающих группах.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48000" y="4896000"/>
            <a:ext cx="3708000" cy="144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392000" y="4950000"/>
            <a:ext cx="3420000" cy="136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>
                <a:solidFill>
                  <a:srgbClr val="520977"/>
                </a:solidFill>
                <a:latin typeface="Montserrat"/>
              </a:rPr>
              <a:t>Результат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30" b="0">
                <a:solidFill>
                  <a:srgbClr val="1C1D22"/>
                </a:solidFill>
                <a:latin typeface="Montserrat"/>
              </a:rPr>
              <a:t>Во всём диапазоне: полнота 67.3–67.6 %, ложные STOP 0.30–0.33 % — различия в пределах шума. Модели согласованы, вес не влияет на качество.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6000" y="4896000"/>
            <a:ext cx="3708000" cy="144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80000" y="4950000"/>
            <a:ext cx="3420000" cy="136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>
                <a:solidFill>
                  <a:srgbClr val="520977"/>
                </a:solidFill>
                <a:latin typeface="Montserrat"/>
              </a:rPr>
              <a:t>Решение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30" b="0">
                <a:solidFill>
                  <a:srgbClr val="1C1D22"/>
                </a:solidFill>
                <a:latin typeface="Montserrat"/>
              </a:rPr>
              <a:t>w₁ = w₂ = ½ выбраны заранее, без подгонки: минимум дисперсии и нет риска переобучить веса. Проверка подтвердила: оптимум плоский.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7442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ЛОГИКА РЕШЕНИЯ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9360000" cy="5148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decision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0" y="1388499"/>
            <a:ext cx="9108000" cy="4747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900000" y="1188000"/>
            <a:ext cx="1944000" cy="51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08000" y="1332000"/>
            <a:ext cx="1764000" cy="489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Выход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C1D22"/>
                </a:solidFill>
                <a:latin typeface="Montserrat"/>
              </a:rPr>
              <a:t>каждый кадр: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C1D22"/>
                </a:solidFill>
                <a:latin typeface="Montserrat"/>
              </a:rPr>
              <a:t>уровень 0 / 1 / 2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C1D22"/>
                </a:solidFill>
                <a:latin typeface="Montserrat"/>
              </a:rPr>
              <a:t>дистанция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C1D22"/>
                </a:solidFill>
                <a:latin typeface="Montserrat"/>
              </a:rPr>
              <a:t>время до столкновения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C1D22"/>
                </a:solidFill>
                <a:latin typeface="Montserrat"/>
              </a:rPr>
              <a:t>путь проверен до X м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C1D22"/>
                </a:solidFill>
                <a:latin typeface="Montserrat"/>
              </a:rPr>
              <a:t>все объекты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520977"/>
                </a:solidFill>
                <a:latin typeface="Montserrat"/>
              </a:rPr>
              <a:t>ROS 2 топики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C1D22"/>
                </a:solidFill>
                <a:latin typeface="Montserrat"/>
              </a:rPr>
              <a:t>/tunnel_guard/status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C1D22"/>
                </a:solidFill>
                <a:latin typeface="Montserrat"/>
              </a:rPr>
              <a:t>/alarm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C1D22"/>
                </a:solidFill>
                <a:latin typeface="Montserrat"/>
              </a:rPr>
              <a:t>/detections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1C1D22"/>
                </a:solidFill>
                <a:latin typeface="Montserrat"/>
              </a:rPr>
              <a:t>/markers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38224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СИНТЕТИКА: ЗАЧЕМ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0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Измерить дальность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В данных нет реальных препятствий дальше ~60 м, а в датасете 2 — нет совсем. Человек или коробка вставляются лучевым моделированием на 80–200 м — только так можно измерить, на каком расстоянии система их находит.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76000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456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000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Позитивы для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000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Реальных препятствий мало, поэтому позитивные примеры для LightGBM/CatBoost — синтетические объекты с точно известным положением. Негативы — реальные кадры без препятствий.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2000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72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2000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Как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2000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Для каждого реального луча Pandar128 считается пересечение с объектом: окклюзия, угловой шаг, дальность при данном отражении. Всё вокруг объекта — реальные данные записи.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07999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287999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7999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Только для оценки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7999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Код — tools/ и core/synth.py. ROS-узел ничего не добавляет: данные заказчика и скрытый тест обрабатываются как есть. В видео такие кадры помечены «СИНТЕТИКА».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96879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ДЕМОНСТРАЦИЯ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31200" y="1141200"/>
            <a:ext cx="4395600" cy="2498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demo_first_s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170000"/>
            <a:ext cx="4338000" cy="2440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0000" y="3646800"/>
            <a:ext cx="4338000" cy="28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1 · Датасет 1: реальный человек в габарите — STOP на 55.5 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95200" y="1141200"/>
            <a:ext cx="4395600" cy="2498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demo_f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000" y="1170000"/>
            <a:ext cx="4338000" cy="2440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24000" y="3646800"/>
            <a:ext cx="4338000" cy="28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2 · Датасет 1, синтетика: человек — первый STOP на 150 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200" y="3924000"/>
            <a:ext cx="4395600" cy="2498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demo_ds2_dr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3952800"/>
            <a:ext cx="4338000" cy="2440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0000" y="6429600"/>
            <a:ext cx="4338000" cy="28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3 · Датасет 2: новая линия, 53 км/ч — путь проверен до 210 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95200" y="3924000"/>
            <a:ext cx="4395600" cy="2498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demo_ds2_per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000" y="3952800"/>
            <a:ext cx="4338000" cy="2440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824000" y="6429600"/>
            <a:ext cx="4338000" cy="28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4 · Датасет 2, синтетика: человек на пути — STOP 142 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4000" y="1170000"/>
            <a:ext cx="2520000" cy="51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486000" y="1278000"/>
            <a:ext cx="2232000" cy="432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Цепочка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6000" y="1800000"/>
            <a:ext cx="432000" cy="432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0053"/>
                </a:solidFill>
                <a:latin typeface="Montserrat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82000" y="1818000"/>
            <a:ext cx="1872000" cy="720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C1D22"/>
                </a:solidFill>
                <a:latin typeface="Montserrat"/>
              </a:rPr>
              <a:t>Тоннель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5E6070"/>
                </a:solidFill>
                <a:latin typeface="Montserrat"/>
              </a:rPr>
              <a:t>реальный bag, 10 Гц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86000" y="2592000"/>
            <a:ext cx="432000" cy="432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0053"/>
                </a:solidFill>
                <a:latin typeface="Montserrat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82000" y="2610000"/>
            <a:ext cx="1872000" cy="720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C1D22"/>
                </a:solidFill>
                <a:latin typeface="Montserrat"/>
              </a:rPr>
              <a:t>Облако точек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5E6070"/>
                </a:solidFill>
                <a:latin typeface="Montserrat"/>
              </a:rPr>
              <a:t>до 921 600 лучей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86000" y="3384000"/>
            <a:ext cx="432000" cy="432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0053"/>
                </a:solidFill>
                <a:latin typeface="Montserrat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2000" y="3402000"/>
            <a:ext cx="1872000" cy="720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C1D22"/>
                </a:solidFill>
                <a:latin typeface="Montserrat"/>
              </a:rPr>
              <a:t>Алгоритм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5E6070"/>
                </a:solidFill>
                <a:latin typeface="Montserrat"/>
              </a:rPr>
              <a:t>путь → габарит → кластеры → гибрид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6000" y="4176000"/>
            <a:ext cx="432000" cy="432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0053"/>
                </a:solidFill>
                <a:latin typeface="Montserrat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82000" y="4194000"/>
            <a:ext cx="1872000" cy="720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C1D22"/>
                </a:solidFill>
                <a:latin typeface="Montserrat"/>
              </a:rPr>
              <a:t>Препятствие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5E6070"/>
                </a:solidFill>
                <a:latin typeface="Montserrat"/>
              </a:rPr>
              <a:t>рамка, зона, уверенность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86000" y="4968000"/>
            <a:ext cx="432000" cy="432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0053"/>
                </a:solidFill>
                <a:latin typeface="Montserrat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82000" y="4986000"/>
            <a:ext cx="1872000" cy="720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C1D22"/>
                </a:solidFill>
                <a:latin typeface="Montserrat"/>
              </a:rPr>
              <a:t>Расстояние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5E6070"/>
                </a:solidFill>
                <a:latin typeface="Montserrat"/>
              </a:rPr>
              <a:t>55.5 м · время до столкновения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6000" y="5796000"/>
            <a:ext cx="2232000" cy="503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520977"/>
                </a:solidFill>
                <a:latin typeface="Montserrat"/>
              </a:rPr>
              <a:t>Видео: docs/demo_tunnelguard.mp4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41985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ОТЛОЖЕННЫЙ ТЕСТ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7776000" cy="3348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12" y="1314000"/>
            <a:ext cx="7408574" cy="3096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60000" y="4680000"/>
            <a:ext cx="7776000" cy="165599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3999" y="4680000"/>
            <a:ext cx="7488000" cy="1655999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Запись doubleT_obstacle </a:t>
            </a:r>
            <a:r>
              <a:rPr sz="1150" b="0">
                <a:solidFill>
                  <a:srgbClr val="1C1D22"/>
                </a:solidFill>
                <a:latin typeface="Montserrat"/>
              </a:rPr>
              <a:t>не использовалась ни при разработке, ни при настройке. Эталон положения людей — независимое вычитание фона стоящего поезда, а не детектор.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Человек B </a:t>
            </a:r>
            <a:r>
              <a:rPr sz="1150" b="0">
                <a:solidFill>
                  <a:srgbClr val="1C1D22"/>
                </a:solidFill>
                <a:latin typeface="Montserrat"/>
              </a:rPr>
              <a:t>идёт рядом с поездом вне габарита — ни одного STOP (верно). CAUTION после ухода человека A — объекты у границы габарита, торможения не вызывают.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6000" y="1188000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42000" y="1260000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58/60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2000" y="1702800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кадров с человеком в габарите — обнаружен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16000" y="2231999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42000" y="2304000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58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2000" y="2746799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из них подтверждённый STOP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6000" y="3276000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42000" y="3347999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55.5 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2000" y="3790800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дальность обнаружения человека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16000" y="4320000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42000" y="4392000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2000" y="4834800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ложных STOP в записи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16000" y="5363999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42000" y="5435999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89 мс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2000" y="5878799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на кадр 921 600 лучей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30703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ДАЛЬНОСТЬ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7776000" cy="367199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23" y="1314000"/>
            <a:ext cx="6217152" cy="3420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60000" y="5004000"/>
            <a:ext cx="7776000" cy="133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3999" y="5004000"/>
            <a:ext cx="7488000" cy="13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Объекты вставлены лучевым моделированием в реальные лучи Pandar128 (окклюзия, угловой шаг, дальность при 10 % отражения — 200 м) и сближаются со скоростью 10 м/с; 3 старта × 5 записей. Полнота — по физически видимым случаям (≥ 3 отражений; за хордой кривой объект закрыт стеной).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6000" y="1188000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42000" y="1260000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100 %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2000" y="1702800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человек на 80 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16000" y="2231999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42000" y="2304000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77 %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2000" y="2746799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человек на 120 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6000" y="3276000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42000" y="3347999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30 %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2000" y="3790800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человек на 160 м (≈ 9 отражений)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16000" y="4320000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42000" y="4392000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93 % · 70 %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2000" y="4834800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коробка 0.5 м на 80 · 120 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16000" y="5363999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42000" y="5435999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150 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2000" y="5878799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первый STOP синтетического человека в демо-ролике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53242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ПРЕДЕЛ ДАЛЬНОСТИ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11484000" cy="3744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range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666" y="1314000"/>
            <a:ext cx="8406666" cy="3492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60000" y="5076000"/>
            <a:ext cx="3708000" cy="126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3999" y="5130000"/>
            <a:ext cx="3420000" cy="118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>
                <a:solidFill>
                  <a:srgbClr val="520977"/>
                </a:solidFill>
                <a:latin typeface="Montserrat"/>
              </a:rPr>
              <a:t>Коридор не виден дальше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В записях 99.9 % отражений ближе 110–140 м (медиана), путь измерен до 116–168 м; ни в одном проверенном кадре нет отражений дальше 250 м: кривые, платформы, колонны.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48000" y="5076000"/>
            <a:ext cx="3708000" cy="126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392000" y="5130000"/>
            <a:ext cx="3420000" cy="118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>
                <a:solidFill>
                  <a:srgbClr val="520977"/>
                </a:solidFill>
                <a:latin typeface="Montserrat"/>
              </a:rPr>
              <a:t>Физика сенсора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Паспорт Pandar128E3X: измеряемая дальность 200 м (в записях максимум 209 м); 200 м при 10 % отражения — только каналы 34–65. Дальше 210 м не измерить ничем: 300 м недостижимы для этого лидара.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6000" y="5076000"/>
            <a:ext cx="3708000" cy="126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80000" y="5130000"/>
            <a:ext cx="3420000" cy="118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>
                <a:solidFill>
                  <a:srgbClr val="520977"/>
                </a:solidFill>
                <a:latin typeface="Montserrat"/>
              </a:rPr>
              <a:t>Проверили, а не поверили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Датасет v2 с объектами до 245 м, три политики дальнего STOP, leave-one-tunnel-out: из объектов на 150–245 м видны лишь 37, прироста полноты нет — прежняя модель оставлена.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9808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ЛОЖНЫЕ ТРЕВОГИ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7776000" cy="3888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false_al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947" y="1314000"/>
            <a:ext cx="6634105" cy="3636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60000" y="5220000"/>
            <a:ext cx="7776000" cy="111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3999" y="5220000"/>
            <a:ext cx="7488000" cy="1116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Каждый кадр всех 5 записей без препятствий: кривые, станции, стрелка, гермозатворы. Оставшиеся 3 кадра — на записях со станциями и стрелкой; CAUTION у границы габарита информирует и не вызывает торможения.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6000" y="1188000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42000" y="1260000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0.31 %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2000" y="1702800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ложных STOP на невиденных тоннелях (правила: 1.31 %)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16000" y="2231999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42000" y="2304000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3 / 2287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2000" y="2746799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кадров STOP на всех пустых записях (на обучающих)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6000" y="3276000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42000" y="3347999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×4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2000" y="3790800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меньше ложных остановок при росте полноты 62.8 → 64.5 %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16000" y="4320000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42000" y="4392000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174 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2000" y="4834800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медиана проверенной свободной дальности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16000" y="5363999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42000" y="5435999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2000" y="5878799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ложных STOP в отложенной записи с людьми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6715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НОВАЯ ЛИНИЯ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7776000" cy="381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ds2_traver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03" y="1314000"/>
            <a:ext cx="7268993" cy="3564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60000" y="5148000"/>
            <a:ext cx="7776000" cy="118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3999" y="5148000"/>
            <a:ext cx="7488000" cy="1188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20 минут новой линии без разметки. Одометрия по «штрихкоду» стен (кронштейны, светильники, стыки колец) даёт координату каждой тревоги в тоннеле. Если поезд позже проехал эту точку — твёрдого объекта там не было: ложная тревога доказана физикой, независимо от проверяемого детектора.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6000" y="1188000"/>
            <a:ext cx="3528000" cy="11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42000" y="1260000"/>
            <a:ext cx="3276000" cy="61776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13.0 км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2000" y="1841400"/>
            <a:ext cx="3276000" cy="51083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одометрия по стенам: 0.000 м/кадр на стоящем поезде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16000" y="2484000"/>
            <a:ext cx="3528000" cy="11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42000" y="2556000"/>
            <a:ext cx="3276000" cy="61776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91 / 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2000" y="3137400"/>
            <a:ext cx="3276000" cy="51083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тревога старой модели проехана поездом — все ложные (≈ 7 на км)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6000" y="3780000"/>
            <a:ext cx="3528000" cy="11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42000" y="3851999"/>
            <a:ext cx="3276000" cy="61776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2000" y="4433400"/>
            <a:ext cx="3276000" cy="51083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ручных меток: негативы доказаны, позитивы — лучевое моделирование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16000" y="5076000"/>
            <a:ext cx="3528000" cy="11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42000" y="5148000"/>
            <a:ext cx="3276000" cy="61776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2.8 км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2000" y="5729400"/>
            <a:ext cx="3276000" cy="51083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последние 5 минут запечатаны: только финальный тест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84324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ЭГО-ДВИЖЕНИЕ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7776000" cy="381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ds2_sea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78" y="1314000"/>
            <a:ext cx="5794842" cy="3564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60000" y="5148000"/>
            <a:ext cx="7776000" cy="118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3999" y="5148000"/>
            <a:ext cx="7488000" cy="1188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Препятствие на пути приближается ровно со скоростью поезда: d(дистанция)/d(пробег) = −1. Артефакт, «едущий» с поездом (ошибка плоскости рельсов, рельс «на 0.3 м выше»), держит дистанцию ~25 м при 12 м/с: наклон ≈ 0 → только CAUTION. Стоящий поезд не отменяет ничего; обрыв одометрии сбрасывает доказательства.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6000" y="1188000"/>
            <a:ext cx="3528000" cy="11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42000" y="1260000"/>
            <a:ext cx="3276000" cy="61776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×6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2000" y="1841400"/>
            <a:ext cx="3276000" cy="51083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меньше ложных STOP-событий на запечатанном участке: 29 → 4.7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16000" y="2484000"/>
            <a:ext cx="3528000" cy="11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42000" y="2556000"/>
            <a:ext cx="3276000" cy="61776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1.8 / км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2000" y="3137400"/>
            <a:ext cx="3276000" cy="51083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ложных STOP-событий финальной модели (было 10.3 / км), среднее по 3 зёрнам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6000" y="3780000"/>
            <a:ext cx="3528000" cy="11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42000" y="3851999"/>
            <a:ext cx="3276000" cy="61776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2000" y="4433400"/>
            <a:ext cx="3276000" cy="51083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изменённых решений на исходных данных: полнота не потеряна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16000" y="5076000"/>
            <a:ext cx="3528000" cy="11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42000" y="5148000"/>
            <a:ext cx="3276000" cy="61776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56–70 мс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2000" y="5729400"/>
            <a:ext cx="3276000" cy="51083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на кадр на одном ядре (лидар 10 Гц = 100 мс)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07303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ДАТАСЕТ 3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8136000" cy="396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ds3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98" y="1314000"/>
            <a:ext cx="7783003" cy="3708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60000" y="5292000"/>
            <a:ext cx="8136000" cy="1044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3999" y="5292000"/>
            <a:ext cx="7848000" cy="1044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Бэг организаторов: 10 синтетических объектов через ~100 м; читаются 29 % архива (438 кадров, 1.8 км) — в них все 10. Генератор ставит объекты на плоскость в системе лидара, а путь идёт под уклон: объекты «парят» над рельсами.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76000" y="1188000"/>
            <a:ext cx="3168000" cy="51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820000" y="1332000"/>
            <a:ext cx="2880000" cy="489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400" b="1">
                <a:solidFill>
                  <a:srgbClr val="520977"/>
                </a:solidFill>
                <a:latin typeface="Montserrat"/>
              </a:rPr>
              <a:t>Что изменили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1C1D22"/>
                </a:solidFill>
                <a:latin typeface="Montserrat"/>
              </a:rPr>
              <a:t>Трекер: </a:t>
            </a:r>
            <a:r>
              <a:rPr sz="1030" b="0">
                <a:solidFill>
                  <a:srgbClr val="1C1D22"/>
                </a:solidFill>
                <a:latin typeface="Montserrat"/>
              </a:rPr>
              <a:t>новый трек стартует со скоростью поезда; допуск на кадр задержки объекта.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1C1D22"/>
                </a:solidFill>
                <a:latin typeface="Montserrat"/>
              </a:rPr>
              <a:t>Одометрия: </a:t>
            </a:r>
            <a:r>
              <a:rPr sz="1030" b="0">
                <a:solidFill>
                  <a:srgbClr val="1C1D22"/>
                </a:solidFill>
                <a:latin typeface="Montserrat"/>
              </a:rPr>
              <a:t>переживает пропуски кадров до 1 с.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1C1D22"/>
                </a:solidFill>
                <a:latin typeface="Montserrat"/>
              </a:rPr>
              <a:t>Оболочка: </a:t>
            </a:r>
            <a:r>
              <a:rPr sz="1030" b="0">
                <a:solidFill>
                  <a:srgbClr val="1C1D22"/>
                </a:solidFill>
                <a:latin typeface="Montserrat"/>
              </a:rPr>
              <a:t>«прикреплён к своду» — только при непрерывности; висящее — не вето.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1C1D22"/>
                </a:solidFill>
                <a:latin typeface="Montserrat"/>
              </a:rPr>
              <a:t>Роутер: </a:t>
            </a:r>
            <a:r>
              <a:rPr sz="1030" b="0">
                <a:solidFill>
                  <a:srgbClr val="1C1D22"/>
                </a:solidFill>
                <a:latin typeface="Montserrat"/>
              </a:rPr>
              <a:t>парящие и висящие объекты оценивает эксперт, обученный на всех формах опасности.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400" b="1">
                <a:solidFill>
                  <a:srgbClr val="520977"/>
                </a:solidFill>
                <a:latin typeface="Montserrat"/>
              </a:rPr>
              <a:t>Итог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30" b="0">
                <a:solidFill>
                  <a:srgbClr val="1C1D22"/>
                </a:solidFill>
                <a:latin typeface="Montserrat"/>
              </a:rPr>
              <a:t>STOP на 7 из 8 объектов в габарите (куб 2×2 м — с 98 м вместо 48 м); не найден стержень 5 см. 1 ложное событие на пустом тоннеле за 1.8 км. Объекты 5 и 7 «за габаритом» дают STOP: наш габарит — вагон 2.7 м, их ≈ ±1.15 м от оси лидара (один параметр конфигурации — уточняем у организаторов).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67993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СКОРОСТЬ И РЕСУРСЫ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7776000" cy="3888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98" y="1314000"/>
            <a:ext cx="6963003" cy="3636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60000" y="5220000"/>
            <a:ext cx="7776000" cy="111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3999" y="5220000"/>
            <a:ext cx="7488000" cy="1116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Векторизованная стоимость DP (доказано равна циклу), numba-ядра для DP и Гаусса–Ньютона (есть numpy-запасной путь), OpenBLAS в образе, JIT-кэш собирается в Docker-образе (загрузка ядер ≈ 1.4 с вместо 10 с).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6000" y="1188000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42000" y="1260000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69 мс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2000" y="1702800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медиана на кадр · 14 кадров/с (p95 102 мс)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16000" y="2231999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42000" y="2304000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1 ядро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2000" y="2746799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CPU ноутбука i5-8250U 15 Вт; GPU не нужен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6000" y="3276000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42000" y="3347999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≈ 0.2 ГБ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2000" y="3790800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ОЗУ узла ROS 2 (при 128 ГБ на стенде)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16000" y="4320000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42000" y="4392000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×3.9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2000" y="4834800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ускорение: 268 → 69 мс; 552 → 89 мс на 921 600 лучах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16000" y="5363999"/>
            <a:ext cx="35280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42000" y="5435999"/>
            <a:ext cx="3276000" cy="4867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ROS 2 Humble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2000" y="5878799"/>
            <a:ext cx="3276000" cy="4024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проверено: colcon build, тесты, evaluate_bag → STOP 55.5 м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27193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ЭВОЛЮЦИЯ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11484000" cy="381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evolution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0" y="1425367"/>
            <a:ext cx="11232000" cy="334126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60000" y="5148000"/>
            <a:ext cx="2772000" cy="11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86000" y="5202000"/>
            <a:ext cx="2520000" cy="111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Этапы 0–2 · геометрия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рельсы и стены: 249/252 ложных кадров; глобальная геометрия и σ(x): 90 → 89 на 5 записях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58000" y="5148000"/>
            <a:ext cx="2772000" cy="11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384000" y="5202000"/>
            <a:ext cx="2520000" cy="111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Этап 3 · физика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гравитация, форма, стенка за объектом, крепление к оболочке: 89 → 34 кадра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6000" y="5148000"/>
            <a:ext cx="2772000" cy="11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82000" y="5202000"/>
            <a:ext cx="2520000" cy="111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Этапы 4–5 · v1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⅓ LGBM + ⅓ CatBoost + ⅓ PI-MLP, вето оболочки, numba: 34 → 3 кадра, 288 → 70 мс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4000" y="5148000"/>
            <a:ext cx="2772000" cy="11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80000" y="5202000"/>
            <a:ext cx="2520000" cy="111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Этапы 6–7 · финал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новая линия и датасет 3: ЭГО-тест и роутер экспертов — 10.3 → 1.8 ложных остановок на км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194925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МЕТРИКИ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3708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86000" y="1260000"/>
            <a:ext cx="3456000" cy="6739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000" b="1">
                <a:solidFill>
                  <a:srgbClr val="FF0053"/>
                </a:solidFill>
                <a:latin typeface="Montserrat"/>
              </a:rPr>
              <a:t>100 %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000" y="1900800"/>
            <a:ext cx="3456000" cy="5572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точность (precision) STOP: 58 из 58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48000" y="1188000"/>
            <a:ext cx="3708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374000" y="1260000"/>
            <a:ext cx="3456000" cy="6739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000" b="1">
                <a:solidFill>
                  <a:srgbClr val="FF0053"/>
                </a:solidFill>
                <a:latin typeface="Montserrat"/>
              </a:rPr>
              <a:t>96.7 %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4000" y="1900800"/>
            <a:ext cx="3456000" cy="5572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полнота (recall): 58 из 60 кадров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6000" y="1188000"/>
            <a:ext cx="3708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62000" y="1260000"/>
            <a:ext cx="3456000" cy="6739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000" b="1">
                <a:solidFill>
                  <a:srgbClr val="FF0053"/>
                </a:solidFill>
                <a:latin typeface="Montserrat"/>
              </a:rPr>
              <a:t>99.0 %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2000" y="1900800"/>
            <a:ext cx="3456000" cy="55728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accuracy по 201 кадру, F1 0.98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2556000"/>
            <a:ext cx="11484000" cy="32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ontserrat"/>
              </a:rPr>
              <a:t>Реальная отложенная запись: позитив — человек A внутри габарита, прогноз — STOP. Финальная модель ½·LGBM + ½·CatBoost + ЭГО-тест; 2 пропуска — первые кадры до подтверждения (3 из 5).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0000" y="2951999"/>
            <a:ext cx="11484000" cy="338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40000" y="3078000"/>
            <a:ext cx="4464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Классификатор кандидатов, leave-one-tunnel-out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4000" y="3078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Precision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000" y="3078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Recall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8000" y="3078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Accuracy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0000" y="3078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Bal. acc.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000" y="3078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ROC-AUC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" y="3546000"/>
            <a:ext cx="4464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физические правила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4000" y="3546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91.0 %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3546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73.0 %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68000" y="3546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94.4 %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0000" y="3546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85.8 %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000" y="3546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000" y="4014000"/>
            <a:ext cx="4464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LightGBM (порог 0.5)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04000" y="4014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95.3 %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6000" y="4014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81.7 %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68000" y="4014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96.3 %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0000" y="4014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90.5 %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000" y="4014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0.907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0000" y="4482000"/>
            <a:ext cx="4464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CatBoost (порог 0.5)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4000" y="4482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94.6 %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36000" y="4482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80.3 %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68000" y="4482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96.0 %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0000" y="4482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89.7 %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000" y="4482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0.913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0000" y="4950000"/>
            <a:ext cx="4464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ансамбль v1 (порог 0.37)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4000" y="4950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79.3 %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36000" y="4950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83.8 %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68000" y="4950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93.7 %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0000" y="4950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89.8 %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2000" y="4950000"/>
            <a:ext cx="1332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0.904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0000" y="5472000"/>
            <a:ext cx="11124000" cy="82799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E6070"/>
                </a:solidFill>
                <a:latin typeface="Montserrat"/>
              </a:rPr>
              <a:t>Одиночные кандидаты до сглаживания и подтверждения. Accuracy завышена: 84 % кандидатов — негативы. Порог 0.37 выбран ради полноты: сглаживание по треку и M из N убирают одиночные ложные кандидаты — на уровне решений ансамбль даёт 0.31 % ложных STOP-кадров при полноте 64.5 %.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196322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АБЛЯЦИЯ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7703999" cy="5148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ab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0" y="1881049"/>
            <a:ext cx="7452000" cy="3761901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243999" y="1188000"/>
            <a:ext cx="3600000" cy="51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24000" y="1332000"/>
            <a:ext cx="3240000" cy="489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Главные выводы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Изгиб пути — фундамент: прямой коридор даёт 436 ложных STOP вместо 3 и −20 п.п. полноты на 80 м.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ML-скорер убирает 33 ложных STOP и 3 лишних STOP в реальной записи, но на 120–160 м правила находят человека чаще: ML учился на 17 далёких примерах.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Зоны 2σ: −31 ложный STOP; вето и тест оболочки: −9 и −11.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Слияние геометрии во времени: без него −33 п.п. полноты на 160 м и 5 лишних STOP.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Удержание стенкой и гравитация при работающем ML избыточны (0 изменений).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Малые выборки (6–10 случаев на ячейку): различия в 1–2 случая не значимы.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15188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БЕЗ УТЕЧЕК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7776000" cy="5148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leakage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0" y="1866750"/>
            <a:ext cx="7524000" cy="37905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316000" y="1188000"/>
            <a:ext cx="3528000" cy="51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96000" y="1332000"/>
            <a:ext cx="3168000" cy="489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Как исключена утечка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1C1D22"/>
                </a:solidFill>
                <a:latin typeface="Montserrat"/>
              </a:rPr>
              <a:t>Деление по записям и блокам. </a:t>
            </a:r>
            <a:r>
              <a:rPr sz="1050" b="0">
                <a:solidFill>
                  <a:srgbClr val="1C1D22"/>
                </a:solidFill>
                <a:latin typeface="Montserrat"/>
              </a:rPr>
              <a:t>Соседние кадры почти одинаковы — случайное деление по кадрам было бы утечкой.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1C1D22"/>
                </a:solidFill>
                <a:latin typeface="Montserrat"/>
              </a:rPr>
              <a:t>Порог — только на обучении.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В каждом фолде порог выбирается внутри обучающих групп под бюджет ложных STOP.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1C1D22"/>
                </a:solidFill>
                <a:latin typeface="Montserrat"/>
              </a:rPr>
              <a:t>Две записи не трогаем.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Люди (датасет 1) и последние 5 минут новой линии (B3) — только финальный тест.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1C1D22"/>
                </a:solidFill>
                <a:latin typeface="Montserrat"/>
              </a:rPr>
              <a:t>Метки не от детектора.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Негативы доказаны проездом поезда, позитивы — лучевое моделирование с точным положением.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Честно: </a:t>
            </a:r>
            <a:r>
              <a:rPr sz="1050" b="0">
                <a:solidFill>
                  <a:srgbClr val="1C1D22"/>
                </a:solidFill>
                <a:latin typeface="Montserrat"/>
              </a:rPr>
              <a:t>тест эго-движения придуман после анализа ошибок B3; параметров, подогнанных к B3, у него нет, на датасете 1 он не изменил ни одного решения.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38045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ЧТО НЕ СРАБОТАЛО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0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Рельсы и стены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Рельсы видны лишь до 30–45 м, а стены на кривых дают ложную геометрию: 161 кадр тревоги в одной записи. Решение: шаблон сечения + глобальный DP + плотный Гаусс–Ньютон.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76000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456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000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«Коридор должен быть пуст»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000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Штраф за точки в коридоре убрал колонны, но позволил «обойти» человека на 160 м. Решение: точки внутри габарита не влияют на геометрию.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2000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72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2000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Слияние экстраполяций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2000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Повторная экстраполяция выглядела как измерение и занижала σ — 120 ложных кадров. Решение: во времени сливается только измеренная информация.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07999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287999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7999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Экспорт XGBoost и DDS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7999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XGBoost после экспорта расходился на 4·10⁻² логита — исключён. Best-effort DDS терял облака 9 МБ при ros2 bag play — launch включает reliable-воспроизведение.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69778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ОГРАНИЧЕНИЯ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224000"/>
            <a:ext cx="3707999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0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2015999"/>
            <a:ext cx="3347999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520977"/>
                </a:solidFill>
                <a:latin typeface="Montserrat"/>
              </a:rPr>
              <a:t>Дальность упирается в физику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2880000"/>
            <a:ext cx="3347999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Pandar128 возвращает ≈ 200 м при 10 % отражения; на 160 м человек даёт ≈ 9 точек при шаге лучей 0.35 м. На кривой путь виден лишь до ≈ √(8RW).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48000" y="1224000"/>
            <a:ext cx="3707999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428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8000" y="2015999"/>
            <a:ext cx="3347999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520977"/>
                </a:solidFill>
                <a:latin typeface="Montserrat"/>
              </a:rPr>
              <a:t>Мелкие объекты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8000" y="2880000"/>
            <a:ext cx="3347999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Коробка 0.3 м уверенно подтверждается до 40–60 м, дальше — максимум CAUTION. Осознанный компромисс против ложных остановок.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5999" y="1224000"/>
            <a:ext cx="3707999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15999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5999" y="2015999"/>
            <a:ext cx="3347999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520977"/>
                </a:solidFill>
                <a:latin typeface="Montserrat"/>
              </a:rPr>
              <a:t>ML обучен на синтетике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5999" y="2880000"/>
            <a:ext cx="3347999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Позитивные примеры — лучевое моделирование. Нужны реальные препятствия; до 30 м решают правила, вето оболочки абсолютно. Одна реальная запись с людьми.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167118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ЗАПУСК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7056000" cy="5148000"/>
          </a:xfrm>
          <a:prstGeom prst="roundRect">
            <a:avLst>
              <a:gd name="adj" fmla="val 3500"/>
            </a:avLst>
          </a:prstGeom>
          <a:solidFill>
            <a:srgbClr val="1C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6000" y="1368000"/>
            <a:ext cx="6696000" cy="482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8FB8"/>
                </a:solidFill>
                <a:latin typeface="Consolas"/>
              </a:rPr>
              <a:t># 1. сборка (все зависимости ставятся автоматически)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docker build -t tunnel_guard 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1C1D22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8FB8"/>
                </a:solidFill>
                <a:latin typeface="Consolas"/>
              </a:rPr>
              <a:t># 2. детектор + RViz2 + проигрывание bag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docker run --rm -it --net=host -e DISPLAY=$DISPLAY \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-v /tmp/.X11-unix:/tmp/.X11-unix -v /bags:/data tunnel_guard \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ros2 launch tunnel_guard tunnel_guard.launch.py \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FF7AA8"/>
                </a:solidFill>
                <a:latin typeface="Consolas"/>
              </a:rPr>
              <a:t>  bag:=/data/doubleT_obstacle rviz:=true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1C1D22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8FB8"/>
                </a:solidFill>
                <a:latin typeface="Consolas"/>
              </a:rPr>
              <a:t># 3. результат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ros2 topic echo /tunnel_guard/status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1C1D22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8FB8"/>
                </a:solidFill>
                <a:latin typeface="Consolas"/>
              </a:rPr>
              <a:t># оффлайн-оценка bag быстрее реального времени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ros2 run tunnel_guard evaluate_bag --bag /data/&lt;bag&gt;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96000" y="1188000"/>
            <a:ext cx="4248000" cy="51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6000" y="1350000"/>
            <a:ext cx="3924000" cy="4860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Проверено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Ubuntu 22.04 + ROS 2 Humble: colcon build, 14 тестов pytest, ros2 bag play / evaluate_bag → STOP на 55.5 м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Топик и ось лидара — автоматически; launch ждёт готовности узла и воспроизводит bag без потерь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Параметры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config/tunnel_guard.yaml: габарит, σ-множитель, M-из-N, дальности, модель скорера (none — только правила)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Документация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README · docs/EXPERIMENTS.md · tools/ воспроизводят каждое число в этой презентации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43840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ТРЕБОВАНИЯ КЕЙСА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188000"/>
            <a:ext cx="11484000" cy="514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6000" y="1278000"/>
            <a:ext cx="4320000" cy="32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Требование кейса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2000" y="1278000"/>
            <a:ext cx="6120000" cy="32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Как выполнено в TunnelGuard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1638000"/>
            <a:ext cx="442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1">
                <a:solidFill>
                  <a:srgbClr val="FF0053"/>
                </a:solidFill>
                <a:latin typeface="Montserrat"/>
              </a:rPr>
              <a:t>●  </a:t>
            </a:r>
            <a:r>
              <a:rPr sz="1080" b="1">
                <a:solidFill>
                  <a:srgbClr val="1C1D22"/>
                </a:solidFill>
                <a:latin typeface="Montserrat"/>
              </a:rPr>
              <a:t>Обработка облаков точек 3D-лидара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12000" y="1638000"/>
            <a:ext cx="658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0">
                <a:solidFill>
                  <a:srgbClr val="1C1D22"/>
                </a:solidFill>
                <a:latin typeface="Montserrat"/>
              </a:rPr>
              <a:t>ROS 2 узел: любой PointCloud2, автоопределение топика и оси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00" y="2098800"/>
            <a:ext cx="442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1">
                <a:solidFill>
                  <a:srgbClr val="FF0053"/>
                </a:solidFill>
                <a:latin typeface="Montserrat"/>
              </a:rPr>
              <a:t>●  </a:t>
            </a:r>
            <a:r>
              <a:rPr sz="1080" b="1">
                <a:solidFill>
                  <a:srgbClr val="1C1D22"/>
                </a:solidFill>
                <a:latin typeface="Montserrat"/>
              </a:rPr>
              <a:t>Мониторинг в реальном времени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2000" y="2098800"/>
            <a:ext cx="658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0">
                <a:solidFill>
                  <a:srgbClr val="1C1D22"/>
                </a:solidFill>
                <a:latin typeface="Montserrat"/>
              </a:rPr>
              <a:t>56–70 мс на кадр на 1 ядре CPU при лидаре 10 Гц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2559600"/>
            <a:ext cx="442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1">
                <a:solidFill>
                  <a:srgbClr val="FF0053"/>
                </a:solidFill>
                <a:latin typeface="Montserrat"/>
              </a:rPr>
              <a:t>●  </a:t>
            </a:r>
            <a:r>
              <a:rPr sz="1080" b="1">
                <a:solidFill>
                  <a:srgbClr val="1C1D22"/>
                </a:solidFill>
                <a:latin typeface="Montserrat"/>
              </a:rPr>
              <a:t>Объекты в габарите поезда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2000" y="2559600"/>
            <a:ext cx="658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0">
                <a:solidFill>
                  <a:srgbClr val="1C1D22"/>
                </a:solidFill>
                <a:latin typeface="Montserrat"/>
              </a:rPr>
              <a:t>габарит вдоль восстановленного пути с запасом 2σ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00" y="3020400"/>
            <a:ext cx="442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1">
                <a:solidFill>
                  <a:srgbClr val="FF0053"/>
                </a:solidFill>
                <a:latin typeface="Montserrat"/>
              </a:rPr>
              <a:t>●  </a:t>
            </a:r>
            <a:r>
              <a:rPr sz="1080" b="1">
                <a:solidFill>
                  <a:srgbClr val="1C1D22"/>
                </a:solidFill>
                <a:latin typeface="Montserrat"/>
              </a:rPr>
              <a:t>Максимальная дальность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12000" y="3020400"/>
            <a:ext cx="658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0">
                <a:solidFill>
                  <a:srgbClr val="1C1D22"/>
                </a:solidFill>
                <a:latin typeface="Montserrat"/>
              </a:rPr>
              <a:t>путь проверяется до 200 м (предел Pandar128); человек: 100 % на 80 м, 78 % на 120 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00" y="3481200"/>
            <a:ext cx="442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1">
                <a:solidFill>
                  <a:srgbClr val="FF0053"/>
                </a:solidFill>
                <a:latin typeface="Montserrat"/>
              </a:rPr>
              <a:t>●  </a:t>
            </a:r>
            <a:r>
              <a:rPr sz="1080" b="1">
                <a:solidFill>
                  <a:srgbClr val="1C1D22"/>
                </a:solidFill>
                <a:latin typeface="Montserrat"/>
              </a:rPr>
              <a:t>Мало ложных при высокой чувствительности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2000" y="3481200"/>
            <a:ext cx="658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0">
                <a:solidFill>
                  <a:srgbClr val="1C1D22"/>
                </a:solidFill>
                <a:latin typeface="Montserrat"/>
              </a:rPr>
              <a:t>0 ложных STOP на датасете 1, 1.8 на км новой линии; 58/60 кадров с человеком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00" y="3941999"/>
            <a:ext cx="442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1">
                <a:solidFill>
                  <a:srgbClr val="FF0053"/>
                </a:solidFill>
                <a:latin typeface="Montserrat"/>
              </a:rPr>
              <a:t>●  </a:t>
            </a:r>
            <a:r>
              <a:rPr sz="1080" b="1">
                <a:solidFill>
                  <a:srgbClr val="1C1D22"/>
                </a:solidFill>
                <a:latin typeface="Montserrat"/>
              </a:rPr>
              <a:t>Выход для систем поезда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2000" y="3941999"/>
            <a:ext cx="658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0">
                <a:solidFill>
                  <a:srgbClr val="1C1D22"/>
                </a:solidFill>
                <a:latin typeface="Montserrat"/>
              </a:rPr>
              <a:t>ObstacleStatus, Detection3DArray, alarm, дистанция, TTC, маркеры RViz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00" y="4402800"/>
            <a:ext cx="442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1">
                <a:solidFill>
                  <a:srgbClr val="FF0053"/>
                </a:solidFill>
                <a:latin typeface="Montserrat"/>
              </a:rPr>
              <a:t>●  </a:t>
            </a:r>
            <a:r>
              <a:rPr sz="1080" b="1">
                <a:solidFill>
                  <a:srgbClr val="1C1D22"/>
                </a:solidFill>
                <a:latin typeface="Montserrat"/>
              </a:rPr>
              <a:t>ROS 2 узлы загрузки и обработки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2000" y="4402800"/>
            <a:ext cx="658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0">
                <a:solidFill>
                  <a:srgbClr val="1C1D22"/>
                </a:solidFill>
                <a:latin typeface="Montserrat"/>
              </a:rPr>
              <a:t>detector_node, evaluate_bag, launch + ros2 bag play, Docker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00" y="4863600"/>
            <a:ext cx="442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1">
                <a:solidFill>
                  <a:srgbClr val="FF0053"/>
                </a:solidFill>
                <a:latin typeface="Montserrat"/>
              </a:rPr>
              <a:t>●  </a:t>
            </a:r>
            <a:r>
              <a:rPr sz="1080" b="1">
                <a:solidFill>
                  <a:srgbClr val="1C1D22"/>
                </a:solidFill>
                <a:latin typeface="Montserrat"/>
              </a:rPr>
              <a:t>Фильтрация, сегментация, 3D-анализ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12000" y="4863600"/>
            <a:ext cx="658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0">
                <a:solidFill>
                  <a:srgbClr val="1C1D22"/>
                </a:solidFill>
                <a:latin typeface="Montserrat"/>
              </a:rPr>
              <a:t>FOV и прорежение, геометрия пути, кластеризация вдоль пути, тесты формы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00" y="5324400"/>
            <a:ext cx="442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1">
                <a:solidFill>
                  <a:srgbClr val="FF0053"/>
                </a:solidFill>
                <a:latin typeface="Montserrat"/>
              </a:rPr>
              <a:t>●  </a:t>
            </a:r>
            <a:r>
              <a:rPr sz="1080" b="1">
                <a:solidFill>
                  <a:srgbClr val="1C1D22"/>
                </a:solidFill>
                <a:latin typeface="Montserrat"/>
              </a:rPr>
              <a:t>Модуль обнаружения объектов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12000" y="5324400"/>
            <a:ext cx="658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0">
                <a:solidFill>
                  <a:srgbClr val="1C1D22"/>
                </a:solidFill>
                <a:latin typeface="Montserrat"/>
              </a:rPr>
              <a:t>физика + роутер двух ансамблей + ЭГО-тест, трекер 3 из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00" y="5785200"/>
            <a:ext cx="442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1">
                <a:solidFill>
                  <a:srgbClr val="FF0053"/>
                </a:solidFill>
                <a:latin typeface="Montserrat"/>
              </a:rPr>
              <a:t>●  </a:t>
            </a:r>
            <a:r>
              <a:rPr sz="1080" b="1">
                <a:solidFill>
                  <a:srgbClr val="1C1D22"/>
                </a:solidFill>
                <a:latin typeface="Montserrat"/>
              </a:rPr>
              <a:t>Интерфейсы и сообщения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2000" y="5785200"/>
            <a:ext cx="6588000" cy="432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80" b="0">
                <a:solidFill>
                  <a:srgbClr val="1C1D22"/>
                </a:solidFill>
                <a:latin typeface="Montserrat"/>
              </a:rPr>
              <a:t>пакет tunnel_guard_msgs: Obstacle.msg, ObstacleStatus.msg; стандартные vision_msgs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13148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ИТОГ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224000"/>
            <a:ext cx="3708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86000" y="1296000"/>
            <a:ext cx="3456000" cy="8611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1">
                <a:solidFill>
                  <a:srgbClr val="FF0053"/>
                </a:solidFill>
                <a:latin typeface="Montserrat"/>
              </a:rPr>
              <a:t>1.8 / км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000" y="2134800"/>
            <a:ext cx="3456000" cy="71207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ложных STOP на запечатанном участке новой линии (было 10.3)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48000" y="1224000"/>
            <a:ext cx="3708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374000" y="1296000"/>
            <a:ext cx="3456000" cy="8611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1">
                <a:solidFill>
                  <a:srgbClr val="FF0053"/>
                </a:solidFill>
                <a:latin typeface="Montserrat"/>
              </a:rPr>
              <a:t>58/60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4000" y="2134800"/>
            <a:ext cx="3456000" cy="71207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кадров с реальным человеком в габарите — STOP, 0 ложных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6000" y="1224000"/>
            <a:ext cx="3708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62000" y="1296000"/>
            <a:ext cx="3456000" cy="8611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1">
                <a:solidFill>
                  <a:srgbClr val="FF0053"/>
                </a:solidFill>
                <a:latin typeface="Montserrat"/>
              </a:rPr>
              <a:t>55.5 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2000" y="2134800"/>
            <a:ext cx="3456000" cy="71207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реальный человек подтверждён STOP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0000" y="3024000"/>
            <a:ext cx="3708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86000" y="3096000"/>
            <a:ext cx="3456000" cy="8611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1">
                <a:solidFill>
                  <a:srgbClr val="FF0053"/>
                </a:solidFill>
                <a:latin typeface="Montserrat"/>
              </a:rPr>
              <a:t>100 % · 78 %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000" y="3934800"/>
            <a:ext cx="3456000" cy="71207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полнота: человек на 80 м · 120 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8000" y="3024000"/>
            <a:ext cx="3708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374000" y="3096000"/>
            <a:ext cx="3456000" cy="8611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1">
                <a:solidFill>
                  <a:srgbClr val="FF0053"/>
                </a:solidFill>
                <a:latin typeface="Montserrat"/>
              </a:rPr>
              <a:t>69 мс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4000" y="3934800"/>
            <a:ext cx="3456000" cy="71207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на кадр, 14 кадров/с на одном ядре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6000" y="3024000"/>
            <a:ext cx="3708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62000" y="3096000"/>
            <a:ext cx="3456000" cy="861120"/>
          </a:xfrm>
          <a:prstGeom prst="rect">
            <a:avLst/>
          </a:prstGeom>
          <a:noFill/>
        </p:spPr>
        <p:txBody>
          <a:bodyPr wrap="square" anchor="b" lIns="36000" rIns="36000" tIns="36000" bIns="3600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1">
                <a:solidFill>
                  <a:srgbClr val="FF0053"/>
                </a:solidFill>
                <a:latin typeface="Montserrat"/>
              </a:rPr>
              <a:t>150 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2000" y="3934800"/>
            <a:ext cx="3456000" cy="71207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первый STOP синтетического человека в видео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0000" y="4896000"/>
            <a:ext cx="11484000" cy="14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00" y="4896000"/>
            <a:ext cx="11052000" cy="1440000"/>
          </a:xfrm>
          <a:prstGeom prst="rect">
            <a:avLst/>
          </a:prstGeom>
          <a:noFill/>
        </p:spPr>
        <p:txBody>
          <a:bodyPr wrap="square" anchor="ctr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«Вот поезд едет по тоннелю. Вот лидар. А вот препятствие, которое алгоритм увидел за 55.5 м» — 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C1D22"/>
                </a:solidFill>
                <a:latin typeface="Montserrat"/>
              </a:rPr>
              <a:t>и сказал, насколько далеко путь проверен свободным. Решение объяснимо, воспроизводимо (Docker + ROS 2) и обобщается: геометрия и габарит восстанавливаются из данных нового тоннеля, а не запоминаются.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03280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sz="2000" b="1">
                <a:latin typeface="Montserrat"/>
              </a:rPr>
              <a:t>РАЗВИТИЕ</a:t>
            </a:r>
            <a:endParaRPr lang="ru-RU" dirty="0"/>
          </a:p>
        </p:txBody>
      </p:sp>
      <p:sp>
        <p:nvSpPr>
          <p:cNvPr id="22" name="Rounded Rectangle 21"/>
          <p:cNvSpPr/>
          <p:nvPr/>
        </p:nvSpPr>
        <p:spPr>
          <a:xfrm>
            <a:off x="360000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0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Скорость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Порт геометрического ядра на C++/CUDA (на стенде кейса — RTX 4070 Ti SUPER): цель ≤ 20 мс на кадр и 20 Гц лидара.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76000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456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000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Слияние датчиков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000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Камера и радар подтверждают дальние объекты; лидар даёт геометрию пути для их проекции.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2000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72000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2000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Карта тоннеля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2000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Накопление геометрии по поездкам — точный габарит, дальность до 300 м и мониторинг изменений инфраструктуры.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07999" y="1224000"/>
            <a:ext cx="2736000" cy="50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287999" y="1386000"/>
            <a:ext cx="1080000" cy="576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7999" y="2015999"/>
            <a:ext cx="2376000" cy="86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Реальные данные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7999" y="2880000"/>
            <a:ext cx="2376000" cy="3204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0">
                <a:solidFill>
                  <a:srgbClr val="1C1D22"/>
                </a:solidFill>
                <a:latin typeface="Montserrat"/>
              </a:rPr>
              <a:t>Запись реальных препятствий для калибровки ML; формальные требования к σ и тормозному пути; сертификация.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