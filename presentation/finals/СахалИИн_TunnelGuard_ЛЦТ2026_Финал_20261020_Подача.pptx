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ed3372d0c42df" /><Relationship Type="http://schemas.openxmlformats.org/officeDocument/2006/relationships/extended-properties" Target="/docProps/app.xml" Id="R65b001296eb342d3" /><Relationship Type="http://schemas.openxmlformats.org/officeDocument/2006/relationships/officeDocument" Target="/ppt/presentation.xml" Id="R5e33f1442973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40608eea7248c2"/>
  </p:sldMasterIdLst>
  <p:notesMasterIdLst>
    <p:notesMasterId xmlns:r="http://schemas.openxmlformats.org/officeDocument/2006/relationships" r:id="R9946b9c448414314"/>
  </p:notesMasterIdLst>
  <p:sldIdLst>
    <p:sldId xmlns:r="http://schemas.openxmlformats.org/officeDocument/2006/relationships" id="256" r:id="R9a213cdc6ff7426d"/>
    <p:sldId xmlns:r="http://schemas.openxmlformats.org/officeDocument/2006/relationships" id="257" r:id="R3ffc6da8886b4493"/>
    <p:sldId xmlns:r="http://schemas.openxmlformats.org/officeDocument/2006/relationships" id="258" r:id="R2facb8f4b0284d1a"/>
    <p:sldId xmlns:r="http://schemas.openxmlformats.org/officeDocument/2006/relationships" id="259" r:id="Rb281db1d6a8b410e"/>
    <p:sldId xmlns:r="http://schemas.openxmlformats.org/officeDocument/2006/relationships" id="260" r:id="R86c3d750b2744730"/>
    <p:sldId xmlns:r="http://schemas.openxmlformats.org/officeDocument/2006/relationships" id="261" r:id="Rac8db48b84e8414a"/>
    <p:sldId xmlns:r="http://schemas.openxmlformats.org/officeDocument/2006/relationships" id="262" r:id="R59aebc72f9014ca0"/>
    <p:sldId xmlns:r="http://schemas.openxmlformats.org/officeDocument/2006/relationships" id="263" r:id="Ra5ed4ff74638415a"/>
    <p:sldId xmlns:r="http://schemas.openxmlformats.org/officeDocument/2006/relationships" id="264" r:id="R95dda431f77e4ee4"/>
    <p:sldId xmlns:r="http://schemas.openxmlformats.org/officeDocument/2006/relationships" id="265" r:id="R6ee7c751bb5c420d"/>
    <p:sldId xmlns:r="http://schemas.openxmlformats.org/officeDocument/2006/relationships" id="266" r:id="R8d242f34e2c443c5"/>
    <p:sldId xmlns:r="http://schemas.openxmlformats.org/officeDocument/2006/relationships" id="267" r:id="R3f18a020ba65409f"/>
    <p:sldId xmlns:r="http://schemas.openxmlformats.org/officeDocument/2006/relationships" id="268" r:id="Reccc51d4a70f4a87"/>
    <p:sldId xmlns:r="http://schemas.openxmlformats.org/officeDocument/2006/relationships" id="269" r:id="R8ac11be23c1f4e29"/>
    <p:sldId xmlns:r="http://schemas.openxmlformats.org/officeDocument/2006/relationships" id="270" r:id="R359404cb933f4cb6"/>
    <p:sldId xmlns:r="http://schemas.openxmlformats.org/officeDocument/2006/relationships" id="271" r:id="Ref48d60983ad4eed"/>
    <p:sldId xmlns:r="http://schemas.openxmlformats.org/officeDocument/2006/relationships" id="272" r:id="R340fd3f582f4458e"/>
    <p:sldId xmlns:r="http://schemas.openxmlformats.org/officeDocument/2006/relationships" id="273" r:id="R610d99cad5d94e5c"/>
    <p:sldId xmlns:r="http://schemas.openxmlformats.org/officeDocument/2006/relationships" id="274" r:id="Rcf6859df87ad43a2"/>
    <p:sldId xmlns:r="http://schemas.openxmlformats.org/officeDocument/2006/relationships" id="275" r:id="Rcca2a42db4c343cf"/>
    <p:sldId xmlns:r="http://schemas.openxmlformats.org/officeDocument/2006/relationships" id="276" r:id="Rff18d11dfdcd4f70"/>
    <p:sldId xmlns:r="http://schemas.openxmlformats.org/officeDocument/2006/relationships" id="277" r:id="R1659ef68333e439e"/>
    <p:sldId xmlns:r="http://schemas.openxmlformats.org/officeDocument/2006/relationships" id="278" r:id="R231096b023474f8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82186634f420a" /><Relationship Type="http://schemas.openxmlformats.org/officeDocument/2006/relationships/slideMaster" Target="/ppt/slideMasters/slideMaster1.xml" Id="R7940608eea7248c2" /><Relationship Type="http://schemas.openxmlformats.org/officeDocument/2006/relationships/notesMaster" Target="/ppt/notesMasters/notesMaster1.xml" Id="R9946b9c448414314" /><Relationship Type="http://schemas.openxmlformats.org/officeDocument/2006/relationships/presProps" Target="/ppt/presProps.xml" Id="Ra5eeda6190144789" /><Relationship Type="http://schemas.openxmlformats.org/officeDocument/2006/relationships/viewProps" Target="/ppt/viewProps.xml" Id="Rdc665cc2bf794bf8" /><Relationship Type="http://schemas.openxmlformats.org/officeDocument/2006/relationships/tableStyles" Target="/ppt/tableStyles.xml" Id="R22b2b056d5b448bc" /><Relationship Type="http://schemas.openxmlformats.org/officeDocument/2006/relationships/slide" Target="/ppt/slides/slide1.xml" Id="R9a213cdc6ff7426d" /><Relationship Type="http://schemas.openxmlformats.org/officeDocument/2006/relationships/slide" Target="/ppt/slides/slide2.xml" Id="R3ffc6da8886b4493" /><Relationship Type="http://schemas.openxmlformats.org/officeDocument/2006/relationships/slide" Target="/ppt/slides/slide3.xml" Id="R2facb8f4b0284d1a" /><Relationship Type="http://schemas.openxmlformats.org/officeDocument/2006/relationships/slide" Target="/ppt/slides/slide4.xml" Id="Rb281db1d6a8b410e" /><Relationship Type="http://schemas.openxmlformats.org/officeDocument/2006/relationships/slide" Target="/ppt/slides/slide5.xml" Id="R86c3d750b2744730" /><Relationship Type="http://schemas.openxmlformats.org/officeDocument/2006/relationships/slide" Target="/ppt/slides/slide6.xml" Id="Rac8db48b84e8414a" /><Relationship Type="http://schemas.openxmlformats.org/officeDocument/2006/relationships/slide" Target="/ppt/slides/slide7.xml" Id="R59aebc72f9014ca0" /><Relationship Type="http://schemas.openxmlformats.org/officeDocument/2006/relationships/slide" Target="/ppt/slides/slide8.xml" Id="Ra5ed4ff74638415a" /><Relationship Type="http://schemas.openxmlformats.org/officeDocument/2006/relationships/slide" Target="/ppt/slides/slide9.xml" Id="R95dda431f77e4ee4" /><Relationship Type="http://schemas.openxmlformats.org/officeDocument/2006/relationships/slide" Target="/ppt/slides/slide10.xml" Id="R6ee7c751bb5c420d" /><Relationship Type="http://schemas.openxmlformats.org/officeDocument/2006/relationships/slide" Target="/ppt/slides/slide11.xml" Id="R8d242f34e2c443c5" /><Relationship Type="http://schemas.openxmlformats.org/officeDocument/2006/relationships/slide" Target="/ppt/slides/slide12.xml" Id="R3f18a020ba65409f" /><Relationship Type="http://schemas.openxmlformats.org/officeDocument/2006/relationships/slide" Target="/ppt/slides/slide13.xml" Id="Reccc51d4a70f4a87" /><Relationship Type="http://schemas.openxmlformats.org/officeDocument/2006/relationships/slide" Target="/ppt/slides/slide14.xml" Id="R8ac11be23c1f4e29" /><Relationship Type="http://schemas.openxmlformats.org/officeDocument/2006/relationships/slide" Target="/ppt/slides/slide15.xml" Id="R359404cb933f4cb6" /><Relationship Type="http://schemas.openxmlformats.org/officeDocument/2006/relationships/slide" Target="/ppt/slides/slide16.xml" Id="Ref48d60983ad4eed" /><Relationship Type="http://schemas.openxmlformats.org/officeDocument/2006/relationships/slide" Target="/ppt/slides/slide17.xml" Id="R340fd3f582f4458e" /><Relationship Type="http://schemas.openxmlformats.org/officeDocument/2006/relationships/slide" Target="/ppt/slides/slide18.xml" Id="R610d99cad5d94e5c" /><Relationship Type="http://schemas.openxmlformats.org/officeDocument/2006/relationships/slide" Target="/ppt/slides/slide19.xml" Id="Rcf6859df87ad43a2" /><Relationship Type="http://schemas.openxmlformats.org/officeDocument/2006/relationships/slide" Target="/ppt/slides/slide20.xml" Id="Rcca2a42db4c343cf" /><Relationship Type="http://schemas.openxmlformats.org/officeDocument/2006/relationships/slide" Target="/ppt/slides/slide21.xml" Id="Rff18d11dfdcd4f70" /><Relationship Type="http://schemas.openxmlformats.org/officeDocument/2006/relationships/slide" Target="/ppt/slides/slide22.xml" Id="R1659ef68333e439e" /><Relationship Type="http://schemas.openxmlformats.org/officeDocument/2006/relationships/slide" Target="/ppt/slides/slide23.xml" Id="R231096b02347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0ed02e109f4a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59c3508cb4a95" /><Relationship Type="http://schemas.openxmlformats.org/officeDocument/2006/relationships/notesMaster" Target="/ppt/notesMasters/notesMaster1.xml" Id="R49212c50cdbf4c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e22e1f5024317" /><Relationship Type="http://schemas.openxmlformats.org/officeDocument/2006/relationships/notesMaster" Target="/ppt/notesMasters/notesMaster1.xml" Id="Rd4d9ef966fec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b88f877d554276" /><Relationship Type="http://schemas.openxmlformats.org/officeDocument/2006/relationships/notesMaster" Target="/ppt/notesMasters/notesMaster1.xml" Id="R3a74c0237db5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e4f0fbd6684f0d" /><Relationship Type="http://schemas.openxmlformats.org/officeDocument/2006/relationships/notesMaster" Target="/ppt/notesMasters/notesMaster1.xml" Id="R03427b5db493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e33ce250944332" /><Relationship Type="http://schemas.openxmlformats.org/officeDocument/2006/relationships/notesMaster" Target="/ppt/notesMasters/notesMaster1.xml" Id="R24114e49c06541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5de5ff6d494ae0" /><Relationship Type="http://schemas.openxmlformats.org/officeDocument/2006/relationships/notesMaster" Target="/ppt/notesMasters/notesMaster1.xml" Id="R0b4deb267efa4f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6bc96c48774a2e" /><Relationship Type="http://schemas.openxmlformats.org/officeDocument/2006/relationships/notesMaster" Target="/ppt/notesMasters/notesMaster1.xml" Id="R0ad0f9e7d4a240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71338696624194" /><Relationship Type="http://schemas.openxmlformats.org/officeDocument/2006/relationships/notesMaster" Target="/ppt/notesMasters/notesMaster1.xml" Id="R3191d3c2751f48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f331f0e5894f8f" /><Relationship Type="http://schemas.openxmlformats.org/officeDocument/2006/relationships/notesMaster" Target="/ppt/notesMasters/notesMaster1.xml" Id="R0f9d4f0fddba4b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3055b0c7984c88" /><Relationship Type="http://schemas.openxmlformats.org/officeDocument/2006/relationships/notesMaster" Target="/ppt/notesMasters/notesMaster1.xml" Id="R351ab457be514a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36c7f21ff944b9" /><Relationship Type="http://schemas.openxmlformats.org/officeDocument/2006/relationships/notesMaster" Target="/ppt/notesMasters/notesMaster1.xml" Id="Ree8c13d126d549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db7f8198494b35" /><Relationship Type="http://schemas.openxmlformats.org/officeDocument/2006/relationships/notesMaster" Target="/ppt/notesMasters/notesMaster1.xml" Id="R9cd4222b162944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efa087aba842ff" /><Relationship Type="http://schemas.openxmlformats.org/officeDocument/2006/relationships/notesMaster" Target="/ppt/notesMasters/notesMaster1.xml" Id="R0bd2f9032cce44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ead30a002a4097" /><Relationship Type="http://schemas.openxmlformats.org/officeDocument/2006/relationships/notesMaster" Target="/ppt/notesMasters/notesMaster1.xml" Id="R191354249e8a43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4f0b4398ac4269" /><Relationship Type="http://schemas.openxmlformats.org/officeDocument/2006/relationships/notesMaster" Target="/ppt/notesMasters/notesMaster1.xml" Id="Rd814b947c4ef4f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1175d82a754eed" /><Relationship Type="http://schemas.openxmlformats.org/officeDocument/2006/relationships/notesMaster" Target="/ppt/notesMasters/notesMaster1.xml" Id="R52d05b06c6804e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a3cadfb8774ffe" /><Relationship Type="http://schemas.openxmlformats.org/officeDocument/2006/relationships/notesMaster" Target="/ppt/notesMasters/notesMaster1.xml" Id="Raee3dfe51ef84b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843aabc4af40b9" /><Relationship Type="http://schemas.openxmlformats.org/officeDocument/2006/relationships/notesMaster" Target="/ppt/notesMasters/notesMaster1.xml" Id="Rcd8e3d322ad246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d89dbd11284a19" /><Relationship Type="http://schemas.openxmlformats.org/officeDocument/2006/relationships/notesMaster" Target="/ppt/notesMasters/notesMaster1.xml" Id="Re3821566deb04a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c2f276aa92448b" /><Relationship Type="http://schemas.openxmlformats.org/officeDocument/2006/relationships/notesMaster" Target="/ppt/notesMasters/notesMaster1.xml" Id="R3f1163e9b29b42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4ae9989c634e91" /><Relationship Type="http://schemas.openxmlformats.org/officeDocument/2006/relationships/notesMaster" Target="/ppt/notesMasters/notesMaster1.xml" Id="Rdf8a097bb0a346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eb5c4e01274621" /><Relationship Type="http://schemas.openxmlformats.org/officeDocument/2006/relationships/notesMaster" Target="/ppt/notesMasters/notesMaster1.xml" Id="R4f94d509caae45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116cdb291644a7" /><Relationship Type="http://schemas.openxmlformats.org/officeDocument/2006/relationships/notesMaster" Target="/ppt/notesMasters/notesMaster1.xml" Id="Rc4b1766749c4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алгоритм: src/tunnel_guard/tunnel_guard/core/{geometry,detector,farfield,scorer}.py. Нативная редактируемая схема в композиции квалификационного слайда 8. Схема не включает непроверенные экспериментальные изменения.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модели в config/obstacle_scorer.json и obstacle_scorer_hanging.json. Веса 1/2 +1/2 в пространстве логитов. Старый PI-MLP не входит в текущую поставку. Числа AP квалификации удалены из этой текущей схемы; исторические результаты доступны в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Competition/solution/docs/finals/spatial/quality/candidate/summary.json</a:t>
            </a:r>
          </a:p>
          <a:p xmlns:a="http://schemas.openxmlformats.org/drawingml/2006/main">
            <a:r>
              <a:t>https://github.com/EhimenNathan/tunnelguard-lct2026/actions/runs/39197603363</a:t>
            </a:r>
          </a:p>
          <a:p xmlns:a="http://schemas.openxmlformats.org/drawingml/2006/main">
            <a:r>
              <a:t>Автоматическая траектория, 4443 кадра. 256,56 м при t=4,5 с. Одна цель; не гарантированная дальность любого объекта.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Competition/solution/docs/finals/spatial/quality/spatial_gates.json</a:t>
            </a:r>
          </a:p>
          <a:p xmlns:a="http://schemas.openxmlformats.org/drawingml/2006/main">
            <a:r>
              <a:t>C:/Users/ehime/Desktop/Moscow Competition/solution/docs/finals/spatial/stop_gaps.json</a:t>
            </a:r>
          </a:p>
          <a:p xmlns:a="http://schemas.openxmlformats.org/drawingml/2006/main">
            <a:r>
              <a:t>14/14 заранее заданных условий. Два изменения вместе; не изолированная абляция. Реальные FP/FN без независимого полного эталона неизвестны.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Competition/solution/docs/data_sources.json</a:t>
            </a:r>
          </a:p>
          <a:p xmlns:a="http://schemas.openxmlformats.org/drawingml/2006/main">
            <a:r>
              <a:t>C:/Users/ehime/Desktop/Moscow Competition/solution/docs/finals/spatial/dense/qualification/summary.json</a:t>
            </a:r>
          </a:p>
          <a:p xmlns:a="http://schemas.openxmlformats.org/drawingml/2006/main">
            <a:r>
              <a:t>Организаторы предоставили 20.10 маркеры и obstacles.md; это отдельный новый источник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Competition/solution/docs/finals/spatial/dense/</a:t>
            </a:r>
          </a:p>
          <a:p xmlns:a="http://schemas.openxmlformats.org/drawingml/2006/main">
            <a:r>
              <a:t>https://github.com/EhimenNathan/tunnelguard-lct2026/actions/runs/39200634492</a:t>
            </a:r>
          </a:p>
          <a:p xmlns:a="http://schemas.openxmlformats.org/drawingml/2006/main">
            <a:r>
              <a:t>4 vCPU AMD EPYC 7763, Linux amd64. p99 интервала выше 100мс; hard real time не доказан.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Competition/solution/web/data/finals_ladder.json</a:t>
            </a:r>
          </a:p>
          <a:p xmlns:a="http://schemas.openxmlformats.org/drawingml/2006/main">
            <a:r>
              <a:t>30 кадров прогрева и 50 оцениваемых кадров, один seed на дальность. Сопоставление по продольной дистанции ±4м. Прежний person — прямоугольный прокси 0.5×0.3×1.75м; не анатомическая модель.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Competition/solution/tools/human_anatomy_inject.py</a:t>
            </a:r>
          </a:p>
          <a:p xmlns:a="http://schemas.openxmlformats.org/drawingml/2006/main">
            <a:r>
              <a:t>C:/Users/ehime/Desktop/Moscow Competition/solution/tools/finals_human_anatomy_eval.py</a:t>
            </a:r>
          </a:p>
          <a:p xmlns:a="http://schemas.openxmlformats.org/drawingml/2006/main">
            <a:r>
              <a:t>Новый диагностический протокол, Windows NumPy/Numba. 51 условие завершено: 30 прогрева +50 оцениваемых, один seed на дальность. Сопоставление по дальности±4м и боковой координате&lt;0.8м. Вне пути0/1700; человек300м8/50предупреждений,0/50СТОП.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https://disk.yandex.ru/d/SfBeRHbs8bNJAQ</a:t>
            </a:r>
          </a:p>
          <a:p xmlns:a="http://schemas.openxmlformats.org/drawingml/2006/main">
            <a:r>
              <a:t>obstacles.md, SHA-256 db62201d049da4f16063abceab8a918f7091335e41a093fcb9211863df687558</a:t>
            </a:r>
          </a:p>
          <a:p xmlns:a="http://schemas.openxmlformats.org/drawingml/2006/main">
            <a:r>
              <a:t>marker-eval 39342143068, все1667кадров. 32135записеймаркеровADD/DELETE. Маркеры не содержат текстовых классов.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Competition/solution/docs/finals/spatial/quality/holdout/holdout.json</a:t>
            </a:r>
          </a:p>
          <a:p xmlns:a="http://schemas.openxmlformats.org/drawingml/2006/main">
            <a:r>
              <a:t>Пылевая инъекция: нежелательный СТОП в ±4м по дальности. Человек вне пути: продольная±4м и боковая&lt;0.8м. Счётчики относятся к известной инъекции, не ко всем неизвестным фоновым объектам.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Competition/solution/docs/finals/spatial/wire_regression.json</a:t>
            </a:r>
          </a:p>
          <a:p xmlns:a="http://schemas.openxmlformats.org/drawingml/2006/main">
            <a:r>
              <a:t>C:/Users/ehime/Desktop/Moscow Competition/solution/docs/SPATIAL_REVIEW_20261019_RU.md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Competition/solution/docs/SPATIAL_REVIEW_20261019_RU.md</a:t>
            </a:r>
          </a:p>
          <a:p xmlns:a="http://schemas.openxmlformats.org/drawingml/2006/main">
            <a:r>
              <a:t>C:/Users/ehime/Desktop/Moscow Competition/solution/docs/finals/spatial/moving_curves.json</a:t>
            </a:r>
          </a:p>
          <a:p xmlns:a="http://schemas.openxmlformats.org/drawingml/2006/main">
            <a:r>
              <a:t>Синтетическая движущаяся платформа5м/с, цель~120м,30warm+50scored. Прямая/±80050/50,±50039/50и36/50детекций.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C:/Users/ehime/Desktop/Moscow Competition/solution/docs/RUN_ON_PC_RU.md</a:t>
            </a:r>
          </a:p>
          <a:p xmlns:a="http://schemas.openxmlformats.org/drawingml/2006/main">
            <a:r>
              <a:t>C:/Users/ehime/Desktop/Moscow Competition/solution/compose.repro.yaml</a:t>
            </a:r>
          </a:p>
          <a:p xmlns:a="http://schemas.openxmlformats.org/drawingml/2006/main">
            <a:r>
              <a:t>https://github.com/EhimenNathan/tunnelguard-lct2026/actions/runs/39341798129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https://ehimennathan.github.io/tunnelguard-lct2026/</a:t>
            </a:r>
          </a:p>
          <a:p xmlns:a="http://schemas.openxmlformats.org/drawingml/2006/main">
            <a:r>
              <a:t>https://github.com/EhimenNathan/tunnelguard-lct2026</a:t>
            </a:r>
          </a:p>
          <a:p xmlns:a="http://schemas.openxmlformats.org/drawingml/2006/main">
            <a:r>
              <a:t>Полное видео7:20: реальныйFalcon,квалификация,триорганизаторскиесцены,68инъекций. Все показанные сканы1×.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7a95031674748" /><Relationship Type="http://schemas.openxmlformats.org/officeDocument/2006/relationships/image" Target="/ppt/media/image2.png" Id="Rfd587572d98540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de99f0fdb4a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571bfed8343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1795429dc42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43c0393b647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ba718974d4a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8d67453924b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a25ae18ad48b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0235bfec648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987049d3c44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f485a2b4f487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5a4b5dd884d8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feb24afc742a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7e3b2860e4b1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e6bbd50ad496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08a6bfb6d4e2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4439f6cb444c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1f017588b443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17ffbd5074a4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6180327bb4e8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8c88b4a6a411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97b0468ba448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3edbab6754324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fd587572d98540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CEC32315-BB13-4CF1-977A-30718C172197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DA4E49E8-8035-405D-9279-D9810235C660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E42E40E7-3488-45D1-976A-4A5E9C57D64B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59FE3C4F-AF6B-48EC-89F8-C26916E35FD6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e51744b491748d1" /><Relationship Type="http://schemas.openxmlformats.org/officeDocument/2006/relationships/theme" Target="/ppt/slideMasters/theme/theme2.xml" Id="Ra5ffb49d56f44342" /><Relationship Type="http://schemas.openxmlformats.org/officeDocument/2006/relationships/slideLayout" Target="/ppt/slideLayouts/slideLayout1.xml" Id="Ra629e5fd1d864db9" /><Relationship Type="http://schemas.openxmlformats.org/officeDocument/2006/relationships/slideLayout" Target="/ppt/slideLayouts/slideLayout2.xml" Id="R4d33b6a660cc4fd7" /><Relationship Type="http://schemas.openxmlformats.org/officeDocument/2006/relationships/slideLayout" Target="/ppt/slideLayouts/slideLayout3.xml" Id="R781bf57018b74b8a" /><Relationship Type="http://schemas.openxmlformats.org/officeDocument/2006/relationships/slideLayout" Target="/ppt/slideLayouts/slideLayout4.xml" Id="R2edfc5b51a6b4186" /><Relationship Type="http://schemas.openxmlformats.org/officeDocument/2006/relationships/slideLayout" Target="/ppt/slideLayouts/slideLayout5.xml" Id="Rf2f3fd10ca374c57" /><Relationship Type="http://schemas.openxmlformats.org/officeDocument/2006/relationships/slideLayout" Target="/ppt/slideLayouts/slideLayout6.xml" Id="Re0fb09315cbf42d9" /><Relationship Type="http://schemas.openxmlformats.org/officeDocument/2006/relationships/slideLayout" Target="/ppt/slideLayouts/slideLayout7.xml" Id="Rdc8cf9d7cdbe4a6e" /><Relationship Type="http://schemas.openxmlformats.org/officeDocument/2006/relationships/slideLayout" Target="/ppt/slideLayouts/slideLayout8.xml" Id="R92930bc1c02c4cd6" /><Relationship Type="http://schemas.openxmlformats.org/officeDocument/2006/relationships/slideLayout" Target="/ppt/slideLayouts/slideLayout9.xml" Id="R10042e49756e412a" /><Relationship Type="http://schemas.openxmlformats.org/officeDocument/2006/relationships/slideLayout" Target="/ppt/slideLayouts/slideLayout10.xml" Id="Rf57dc22ccd13484b" /><Relationship Type="http://schemas.openxmlformats.org/officeDocument/2006/relationships/slideLayout" Target="/ppt/slideLayouts/slideLayout11.xml" Id="R13b744f1309d4e7b" /><Relationship Type="http://schemas.openxmlformats.org/officeDocument/2006/relationships/slideLayout" Target="/ppt/slideLayouts/slideLayout12.xml" Id="R4150023e71f5480b" /><Relationship Type="http://schemas.openxmlformats.org/officeDocument/2006/relationships/slideLayout" Target="/ppt/slideLayouts/slideLayout13.xml" Id="Rf52105e7fce44283" /><Relationship Type="http://schemas.openxmlformats.org/officeDocument/2006/relationships/slideLayout" Target="/ppt/slideLayouts/slideLayout14.xml" Id="R3e9468bb00f34bdd" /><Relationship Type="http://schemas.openxmlformats.org/officeDocument/2006/relationships/slideLayout" Target="/ppt/slideLayouts/slideLayout15.xml" Id="Rbb66007fed8b43ea" /><Relationship Type="http://schemas.openxmlformats.org/officeDocument/2006/relationships/slideLayout" Target="/ppt/slideLayouts/slideLayout16.xml" Id="Rc9bd796a324b41c9" /><Relationship Type="http://schemas.openxmlformats.org/officeDocument/2006/relationships/slideLayout" Target="/ppt/slideLayouts/slideLayout17.xml" Id="Rbb2ef742e4784dac" /><Relationship Type="http://schemas.openxmlformats.org/officeDocument/2006/relationships/slideLayout" Target="/ppt/slideLayouts/slideLayout18.xml" Id="R12c1929df0bc4848" /><Relationship Type="http://schemas.openxmlformats.org/officeDocument/2006/relationships/slideLayout" Target="/ppt/slideLayouts/slideLayout19.xml" Id="R1f1bea7fc37b4317" /><Relationship Type="http://schemas.openxmlformats.org/officeDocument/2006/relationships/slideLayout" Target="/ppt/slideLayouts/slideLayout20.xml" Id="Rd6847d6994614e1a" /><Relationship Type="http://schemas.openxmlformats.org/officeDocument/2006/relationships/slideLayout" Target="/ppt/slideLayouts/slideLayout21.xml" Id="Rc98d011040ed43c4" /><Relationship Type="http://schemas.openxmlformats.org/officeDocument/2006/relationships/slideLayout" Target="/ppt/slideLayouts/slideLayout22.xml" Id="Rb0e20cafc5c34681" /><Relationship Type="http://schemas.openxmlformats.org/officeDocument/2006/relationships/slideLayout" Target="/ppt/slideLayouts/slideLayout23.xml" Id="Re709ad7679e24464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51744b491748d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29e5fd1d864db9"/>
    <p:sldLayoutId xmlns:r="http://schemas.openxmlformats.org/officeDocument/2006/relationships" id="2147483650" r:id="R4d33b6a660cc4fd7"/>
    <p:sldLayoutId xmlns:r="http://schemas.openxmlformats.org/officeDocument/2006/relationships" id="2147483651" r:id="R781bf57018b74b8a"/>
    <p:sldLayoutId xmlns:r="http://schemas.openxmlformats.org/officeDocument/2006/relationships" id="2147483652" r:id="R2edfc5b51a6b4186"/>
    <p:sldLayoutId xmlns:r="http://schemas.openxmlformats.org/officeDocument/2006/relationships" id="2147483653" r:id="Rf2f3fd10ca374c57"/>
    <p:sldLayoutId xmlns:r="http://schemas.openxmlformats.org/officeDocument/2006/relationships" id="2147483654" r:id="Re0fb09315cbf42d9"/>
    <p:sldLayoutId xmlns:r="http://schemas.openxmlformats.org/officeDocument/2006/relationships" id="2147483655" r:id="Rdc8cf9d7cdbe4a6e"/>
    <p:sldLayoutId xmlns:r="http://schemas.openxmlformats.org/officeDocument/2006/relationships" id="2147483656" r:id="R92930bc1c02c4cd6"/>
    <p:sldLayoutId xmlns:r="http://schemas.openxmlformats.org/officeDocument/2006/relationships" id="2147483657" r:id="R10042e49756e412a"/>
    <p:sldLayoutId xmlns:r="http://schemas.openxmlformats.org/officeDocument/2006/relationships" id="2147483658" r:id="Rf57dc22ccd13484b"/>
    <p:sldLayoutId xmlns:r="http://schemas.openxmlformats.org/officeDocument/2006/relationships" id="2147483659" r:id="R13b744f1309d4e7b"/>
    <p:sldLayoutId xmlns:r="http://schemas.openxmlformats.org/officeDocument/2006/relationships" id="2147483660" r:id="R4150023e71f5480b"/>
    <p:sldLayoutId xmlns:r="http://schemas.openxmlformats.org/officeDocument/2006/relationships" id="2147483661" r:id="Rf52105e7fce44283"/>
    <p:sldLayoutId xmlns:r="http://schemas.openxmlformats.org/officeDocument/2006/relationships" id="2147483662" r:id="R3e9468bb00f34bdd"/>
    <p:sldLayoutId xmlns:r="http://schemas.openxmlformats.org/officeDocument/2006/relationships" id="2147483663" r:id="Rbb66007fed8b43ea"/>
    <p:sldLayoutId xmlns:r="http://schemas.openxmlformats.org/officeDocument/2006/relationships" id="2147483664" r:id="Rc9bd796a324b41c9"/>
    <p:sldLayoutId xmlns:r="http://schemas.openxmlformats.org/officeDocument/2006/relationships" id="2147483665" r:id="Rbb2ef742e4784dac"/>
    <p:sldLayoutId xmlns:r="http://schemas.openxmlformats.org/officeDocument/2006/relationships" id="2147483666" r:id="R12c1929df0bc4848"/>
    <p:sldLayoutId xmlns:r="http://schemas.openxmlformats.org/officeDocument/2006/relationships" id="2147483667" r:id="R1f1bea7fc37b4317"/>
    <p:sldLayoutId xmlns:r="http://schemas.openxmlformats.org/officeDocument/2006/relationships" id="2147483668" r:id="Rd6847d6994614e1a"/>
    <p:sldLayoutId xmlns:r="http://schemas.openxmlformats.org/officeDocument/2006/relationships" id="2147483669" r:id="Rc98d011040ed43c4"/>
    <p:sldLayoutId xmlns:r="http://schemas.openxmlformats.org/officeDocument/2006/relationships" id="2147483670" r:id="Rb0e20cafc5c34681"/>
    <p:sldLayoutId xmlns:r="http://schemas.openxmlformats.org/officeDocument/2006/relationships" id="2147483671" r:id="Re709ad7679e24464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5becb2f7147ee" /><Relationship Type="http://schemas.openxmlformats.org/officeDocument/2006/relationships/image" Target="/ppt/media/image3.png" Id="Rd48e6eaba68f4805" /><Relationship Type="http://schemas.openxmlformats.org/officeDocument/2006/relationships/notesSlide" Target="/ppt/notesSlides/notesSlide1.xml" Id="R46224737c7ae44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4b9a40388f4332" /><Relationship Type="http://schemas.openxmlformats.org/officeDocument/2006/relationships/image" Target="/ppt/media/image4.png" Id="R9e82cc21f491455e" /><Relationship Type="http://schemas.openxmlformats.org/officeDocument/2006/relationships/image" Target="/ppt/media/image.jpeg" Id="R223e03263f4b485e" /><Relationship Type="http://schemas.openxmlformats.org/officeDocument/2006/relationships/notesSlide" Target="/ppt/notesSlides/notesSlide2.xml" Id="Rbc86e7d0d00a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5a5aa59df84b36" /><Relationship Type="http://schemas.openxmlformats.org/officeDocument/2006/relationships/image" Target="/ppt/media/image.png" Id="R286a34303c1d4574" /><Relationship Type="http://schemas.openxmlformats.org/officeDocument/2006/relationships/image" Target="/ppt/media/image2.jpeg" Id="Ra8758e34cc024ea4" /><Relationship Type="http://schemas.openxmlformats.org/officeDocument/2006/relationships/image" Target="/ppt/media/image3.jpeg" Id="R0f68bf66600e41b2" /><Relationship Type="http://schemas.openxmlformats.org/officeDocument/2006/relationships/image" Target="/ppt/media/image4.jpeg" Id="R30f4f1ab1e6a4edf" /><Relationship Type="http://schemas.openxmlformats.org/officeDocument/2006/relationships/notesSlide" Target="/ppt/notesSlides/notesSlide3.xml" Id="R73f735e3dcbc48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2471ca4a86434d" /><Relationship Type="http://schemas.openxmlformats.org/officeDocument/2006/relationships/image" Target="/ppt/media/image5.png" Id="R600ab200409d47bd" /><Relationship Type="http://schemas.openxmlformats.org/officeDocument/2006/relationships/notesSlide" Target="/ppt/notesSlides/notesSlide4.xml" Id="Ree3d857699534a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06f832c6b3e4b28" /><Relationship Type="http://schemas.openxmlformats.org/officeDocument/2006/relationships/image" Target="/ppt/media/image.png" Id="Ra51169f8c66b4973" /><Relationship Type="http://schemas.openxmlformats.org/officeDocument/2006/relationships/notesSlide" Target="/ppt/notesSlides/notesSlide5.xml" Id="R9af29ccbe38a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f3b4a55d56a4e12" /><Relationship Type="http://schemas.openxmlformats.org/officeDocument/2006/relationships/notesSlide" Target="/ppt/notesSlides/notesSlide6.xml" Id="R6cb4d9d8757b4e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b14c9125cec4574" /><Relationship Type="http://schemas.openxmlformats.org/officeDocument/2006/relationships/notesSlide" Target="/ppt/notesSlides/notesSlide7.xml" Id="R63b282c5e09145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95ba811b70c44f5" /><Relationship Type="http://schemas.openxmlformats.org/officeDocument/2006/relationships/notesSlide" Target="/ppt/notesSlides/notesSlide8.xml" Id="R1332916a25ab40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2131d7ac64a46f3" /><Relationship Type="http://schemas.openxmlformats.org/officeDocument/2006/relationships/image" Target="/ppt/media/image6.png" Id="R2b6f0ff66a6f40cb" /><Relationship Type="http://schemas.openxmlformats.org/officeDocument/2006/relationships/notesSlide" Target="/ppt/notesSlides/notesSlide9.xml" Id="Rd8677d74811246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defcc218d934ae1" /><Relationship Type="http://schemas.openxmlformats.org/officeDocument/2006/relationships/image" Target="/ppt/media/image7.png" Id="R1244a84c79204afc" /><Relationship Type="http://schemas.openxmlformats.org/officeDocument/2006/relationships/notesSlide" Target="/ppt/notesSlides/notesSlide10.xml" Id="R0b3c46a0595847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413dee89a214281" /><Relationship Type="http://schemas.openxmlformats.org/officeDocument/2006/relationships/notesSlide" Target="/ppt/notesSlides/notesSlide11.xml" Id="R0115ecc6873f4c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b1dd86e21fc4121" /><Relationship Type="http://schemas.openxmlformats.org/officeDocument/2006/relationships/image" Target="/ppt/media/image8.png" Id="R80bc78ac29794c82" /><Relationship Type="http://schemas.openxmlformats.org/officeDocument/2006/relationships/notesSlide" Target="/ppt/notesSlides/notesSlide12.xml" Id="R15c8cf5120d540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5a46e2f63cf451e" /><Relationship Type="http://schemas.openxmlformats.org/officeDocument/2006/relationships/chart" Target="/ppt/slides/charts/chart1.xml" Id="R3e0131609b9043a3" /><Relationship Type="http://schemas.openxmlformats.org/officeDocument/2006/relationships/notesSlide" Target="/ppt/notesSlides/notesSlide13.xml" Id="R0ce9090b9e9848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12c90197128458a" /><Relationship Type="http://schemas.openxmlformats.org/officeDocument/2006/relationships/notesSlide" Target="/ppt/notesSlides/notesSlide14.xml" Id="R3a16b4ca8fd84a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dbde610f6a74374" /><Relationship Type="http://schemas.openxmlformats.org/officeDocument/2006/relationships/notesSlide" Target="/ppt/notesSlides/notesSlide15.xml" Id="R398ff738d4384a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21e140211e6461a" /><Relationship Type="http://schemas.openxmlformats.org/officeDocument/2006/relationships/chart" Target="/ppt/slides/charts/chart2.xml" Id="Ra39b790f3bcf41a7" /><Relationship Type="http://schemas.openxmlformats.org/officeDocument/2006/relationships/notesSlide" Target="/ppt/notesSlides/notesSlide16.xml" Id="R5861a3ae9c0141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b3fed73ab764f97" /><Relationship Type="http://schemas.openxmlformats.org/officeDocument/2006/relationships/image" Target="/ppt/media/image9.png" Id="R24c027ed3e0548c3" /><Relationship Type="http://schemas.openxmlformats.org/officeDocument/2006/relationships/notesSlide" Target="/ppt/notesSlides/notesSlide17.xml" Id="R83914aeee09545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e8218232b8f4531" /><Relationship Type="http://schemas.openxmlformats.org/officeDocument/2006/relationships/notesSlide" Target="/ppt/notesSlides/notesSlide18.xml" Id="R0233dafbb2684d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eb667a212e74b95" /><Relationship Type="http://schemas.openxmlformats.org/officeDocument/2006/relationships/notesSlide" Target="/ppt/notesSlides/notesSlide19.xml" Id="R696d8610a07e48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d7b139a6b3d47b5" /><Relationship Type="http://schemas.openxmlformats.org/officeDocument/2006/relationships/notesSlide" Target="/ppt/notesSlides/notesSlide20.xml" Id="R5b6e55c1cbf94a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ff84b27a0504d8e" /><Relationship Type="http://schemas.openxmlformats.org/officeDocument/2006/relationships/notesSlide" Target="/ppt/notesSlides/notesSlide21.xml" Id="R97d82bed51fb4b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3a01da35904590" /><Relationship Type="http://schemas.openxmlformats.org/officeDocument/2006/relationships/notesSlide" Target="/ppt/notesSlides/notesSlide22.xml" Id="Rfd074beb897a42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a948baf0244e7f" /><Relationship Type="http://schemas.openxmlformats.org/officeDocument/2006/relationships/hyperlink" Target="https://ehimennathan.github.io/tunnelguard-lct2026/#film" TargetMode="External" Id="R53779eba3cb5496d" /><Relationship Type="http://schemas.openxmlformats.org/officeDocument/2006/relationships/hyperlink" Target="https://github.com/EhimenNathan/tunnelguard-lct2026" TargetMode="External" Id="R6b97ac20795344bf" /><Relationship Type="http://schemas.openxmlformats.org/officeDocument/2006/relationships/hyperlink" Target="https://ehimennathan.github.io/tunnelguard-lct2026/qualification.html" TargetMode="External" Id="R678cb3f792e14125" /><Relationship Type="http://schemas.openxmlformats.org/officeDocument/2006/relationships/notesSlide" Target="/ppt/notesSlides/notesSlide23.xml" Id="R57e22eb9d6b24f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</c:v>
          </c:tx>
          <c:spPr>
            <a:solidFill xmlns:a="http://schemas.openxmlformats.org/drawingml/2006/main">
              <a:srgbClr val="7791A8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СТОП на 200–250 м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705</c:v>
                </c:pt>
              </c:numCache>
            </c:numRef>
          </c:val>
        </c:ser>
        <c:ser>
          <c:idx val="1"/>
          <c:order val="1"/>
          <c:tx>
            <c:v>После</c:v>
          </c:tx>
          <c:spPr>
            <a:solidFill xmlns:a="http://schemas.openxmlformats.org/drawingml/2006/main">
              <a:srgbClr val="43DCC4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СТОП на 200–250 м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718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F1F6FC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ax val="7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172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F1F6FC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spPr>
    <a:solidFill xmlns:a="http://schemas.openxmlformats.org/drawingml/2006/main">
      <a:srgbClr val="09172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Обнаружение</c:v>
          </c:tx>
          <c:spPr>
            <a:solidFill xmlns:a="http://schemas.openxmlformats.org/drawingml/2006/main">
              <a:srgbClr val="43DCC4"/>
            </a:solidFill>
          </c:spPr>
          <c:marker>
            <c:symbol val="none"/>
          </c:marker>
          <c:cat>
            <c:numRef>
              <c:f>'Chart Data'!$A$2:$A$18</c:f>
              <c:numCache>
                <c:formatCode>General</c:formatCode>
                <c:ptCount val="17"/>
                <c:pt idx="0">
                  <c:v>60</c:v>
                </c:pt>
                <c:pt idx="1">
                  <c:v>90</c:v>
                </c:pt>
                <c:pt idx="2">
                  <c:v>100</c:v>
                </c:pt>
                <c:pt idx="3">
                  <c:v>120</c:v>
                </c:pt>
                <c:pt idx="4">
                  <c:v>150</c:v>
                </c:pt>
                <c:pt idx="5">
                  <c:v>175</c:v>
                </c:pt>
                <c:pt idx="6">
                  <c:v>180</c:v>
                </c:pt>
                <c:pt idx="7">
                  <c:v>190</c:v>
                </c:pt>
                <c:pt idx="8">
                  <c:v>200</c:v>
                </c:pt>
                <c:pt idx="9">
                  <c:v>215</c:v>
                </c:pt>
                <c:pt idx="10">
                  <c:v>220</c:v>
                </c:pt>
                <c:pt idx="11">
                  <c:v>230</c:v>
                </c:pt>
                <c:pt idx="12">
                  <c:v>250</c:v>
                </c:pt>
                <c:pt idx="13">
                  <c:v>260</c:v>
                </c:pt>
                <c:pt idx="14">
                  <c:v>270</c:v>
                </c:pt>
                <c:pt idx="15">
                  <c:v>280</c:v>
                </c:pt>
                <c:pt idx="16">
                  <c:v>300</c:v>
                </c:pt>
              </c:numCache>
            </c:numRef>
          </c:cat>
          <c:val>
            <c:numRef>
              <c:f>'Chart Data'!$B$2:$B$18</c:f>
              <c:numCache>
                <c:formatCode>General</c:formatCode>
                <c:ptCount val="17"/>
                <c:pt idx="0">
                  <c:v>96</c:v>
                </c:pt>
                <c:pt idx="1">
                  <c:v>96</c:v>
                </c:pt>
                <c:pt idx="2">
                  <c:v>96</c:v>
                </c:pt>
                <c:pt idx="3">
                  <c:v>96</c:v>
                </c:pt>
                <c:pt idx="4">
                  <c:v>90</c:v>
                </c:pt>
                <c:pt idx="5">
                  <c:v>88</c:v>
                </c:pt>
                <c:pt idx="6">
                  <c:v>92</c:v>
                </c:pt>
                <c:pt idx="7">
                  <c:v>94</c:v>
                </c:pt>
                <c:pt idx="8">
                  <c:v>92</c:v>
                </c:pt>
                <c:pt idx="9">
                  <c:v>90</c:v>
                </c:pt>
                <c:pt idx="10">
                  <c:v>90</c:v>
                </c:pt>
                <c:pt idx="11">
                  <c:v>80</c:v>
                </c:pt>
                <c:pt idx="12">
                  <c:v>94</c:v>
                </c:pt>
                <c:pt idx="13">
                  <c:v>86</c:v>
                </c:pt>
                <c:pt idx="14">
                  <c:v>94</c:v>
                </c:pt>
                <c:pt idx="15">
                  <c:v>78</c:v>
                </c:pt>
                <c:pt idx="16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v>СТОП</c:v>
          </c:tx>
          <c:spPr>
            <a:solidFill xmlns:a="http://schemas.openxmlformats.org/drawingml/2006/main">
              <a:srgbClr val="F8C76C"/>
            </a:solidFill>
          </c:spPr>
          <c:marker>
            <c:symbol val="none"/>
          </c:marker>
          <c:cat>
            <c:numRef>
              <c:f>'Chart Data'!$C$2:$C$18</c:f>
              <c:numCache>
                <c:formatCode>General</c:formatCode>
                <c:ptCount val="17"/>
                <c:pt idx="0">
                  <c:v>60</c:v>
                </c:pt>
                <c:pt idx="1">
                  <c:v>90</c:v>
                </c:pt>
                <c:pt idx="2">
                  <c:v>100</c:v>
                </c:pt>
                <c:pt idx="3">
                  <c:v>120</c:v>
                </c:pt>
                <c:pt idx="4">
                  <c:v>150</c:v>
                </c:pt>
                <c:pt idx="5">
                  <c:v>175</c:v>
                </c:pt>
                <c:pt idx="6">
                  <c:v>180</c:v>
                </c:pt>
                <c:pt idx="7">
                  <c:v>190</c:v>
                </c:pt>
                <c:pt idx="8">
                  <c:v>200</c:v>
                </c:pt>
                <c:pt idx="9">
                  <c:v>215</c:v>
                </c:pt>
                <c:pt idx="10">
                  <c:v>220</c:v>
                </c:pt>
                <c:pt idx="11">
                  <c:v>230</c:v>
                </c:pt>
                <c:pt idx="12">
                  <c:v>250</c:v>
                </c:pt>
                <c:pt idx="13">
                  <c:v>260</c:v>
                </c:pt>
                <c:pt idx="14">
                  <c:v>270</c:v>
                </c:pt>
                <c:pt idx="15">
                  <c:v>280</c:v>
                </c:pt>
                <c:pt idx="16">
                  <c:v>300</c:v>
                </c:pt>
              </c:numCache>
            </c:numRef>
          </c:cat>
          <c:val>
            <c:numRef>
              <c:f>'Chart Data'!$D$2:$D$18</c:f>
              <c:numCache>
                <c:formatCode>General</c:formatCode>
                <c:ptCount val="17"/>
                <c:pt idx="0">
                  <c:v>74</c:v>
                </c:pt>
                <c:pt idx="1">
                  <c:v>72</c:v>
                </c:pt>
                <c:pt idx="2">
                  <c:v>76</c:v>
                </c:pt>
                <c:pt idx="3">
                  <c:v>76</c:v>
                </c:pt>
                <c:pt idx="4">
                  <c:v>72</c:v>
                </c:pt>
                <c:pt idx="5">
                  <c:v>56</c:v>
                </c:pt>
                <c:pt idx="6">
                  <c:v>60</c:v>
                </c:pt>
                <c:pt idx="7">
                  <c:v>58</c:v>
                </c:pt>
                <c:pt idx="8">
                  <c:v>58</c:v>
                </c:pt>
                <c:pt idx="9">
                  <c:v>58</c:v>
                </c:pt>
                <c:pt idx="10">
                  <c:v>58</c:v>
                </c:pt>
                <c:pt idx="11">
                  <c:v>58</c:v>
                </c:pt>
                <c:pt idx="12">
                  <c:v>84</c:v>
                </c:pt>
                <c:pt idx="13">
                  <c:v>62</c:v>
                </c:pt>
                <c:pt idx="14">
                  <c:v>80</c:v>
                </c:pt>
                <c:pt idx="15">
                  <c:v>70</c:v>
                </c:pt>
                <c:pt idx="16">
                  <c:v>58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172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F1F6FC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spPr>
    <a:solidFill xmlns:a="http://schemas.openxmlformats.org/drawingml/2006/main">
      <a:srgbClr val="09172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СахалИИн</a:t>
            </a:r>
            <a:endParaRPr sz="4800"/>
          </a:p>
        </p:txBody>
      </p:sp>
      <p:pic>
        <p:nvPic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9E72EAD-1595-4C12-B222-535AA0D114F9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1"/>
          </p:nvPr>
        </p:nvPicPr>
        <p:blipFill>
          <a:blip xmlns:r="http://schemas.openxmlformats.org/officeDocument/2006/relationships" xmlns:a="http://schemas.openxmlformats.org/drawingml/2006/main" r:embed="Rd48e6eaba68f4805"/>
          <a:srcRect xmlns:a="http://schemas.openxmlformats.org/drawingml/2006/main" l="0" t="11871" r="0" b="11871"/>
          <a:stretch xmlns:a="http://schemas.openxmlformats.org/drawingml/2006/main">
            <a:fillRect l="0" t="0" r="0" b="0"/>
          </a:stretch>
        </p:blipFill>
        <p:spPr/>
      </p:pic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TunnelGuard — обнаружение посторонних объектов в габарите беспилотного поезда метро по данным 3D-лидара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e82cc21f49145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F1411015-7749-47D4-9827-4BC1879441C4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223e03263f4b485e"/>
          <a:srcRect xmlns:a="http://schemas.openxmlformats.org/drawingml/2006/main" l="31" t="0" r="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5267"/>
            <a:ext cx="6456363" cy="2971784"/>
          </a:xfr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 sz="1100">
                <a:solidFill>
                  <a:srgbClr val="1C1D22"/>
                </a:solidFill>
              </a:rPr>
              <a:t>Восстанавливаем путь и габарит по облаку точек. Гибрид физики, ансамблей LightGBM/CatBoost и временного подтверждения обнаруживает посторонние объекты и передаёт СТОП / ВНИМАНИЕ в ROS 2.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</a:t>
            </a:r>
            <a:r>
              <a:rPr>
                <a:solidFill>
                  <a:schemeClr val="tx1"/>
                </a:solidFill>
              </a:rPr>
              <a:t>Каменев Александр Павлович, Data Scientist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</a:t>
            </a:r>
            <a:r>
              <a:rPr>
                <a:solidFill>
                  <a:schemeClr val="tx1"/>
                </a:solidFill>
              </a:rPr>
              <a:t>3 человека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 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Пришли из разных областей и познакомились в Sakhalin AI Center, где создаём сложные продукты компьютерного зрения и машинного обучения.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Место работы участников: Sakhalin AI Center.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</a:t>
            </a:r>
            <a:r>
              <a:rPr b="0">
                <a:solidFill>
                  <a:schemeClr val="tx1"/>
                </a:solidFill>
              </a:rPr>
              <a:t>Сахалинская область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520977"/>
                </a:solidFill>
              </a:rPr>
              <a:t>СахалИИн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7CD08724-5A19-48DC-A066-C464EBC2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FF3A43D6-2559-4AA0-A9FD-FFFD7EB6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4CDAA3E6-69BB-4E5C-A6F3-07BA1295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 sz="1100">
                <a:solidFill>
                  <a:srgbClr val="1C1D22"/>
                </a:solidFill>
              </a:rPr>
              <a:t>Разделяем измеренный путь и прогноз с неопределённостью. C++-ядро и временная память сохраняют слабые дальние цели. На полном Falcon восстановлены 13 кадров СТОП без ухудшения зафиксированных отрицательных контролей.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86a34303c1d45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394" y="4400000"/>
            <a:ext cx="1990000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100" b="1">
                <a:solidFill>
                  <a:schemeClr val="tx1"/>
                </a:solidFill>
              </a:rPr>
              <a:t>Капитан команды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Data Scientist, администрирование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@kameeeeen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+7 962 100-82-62</a:t>
            </a:r>
            <a:endParaRPr sz="1200">
              <a:solidFill>
                <a:schemeClr val="tx1"/>
              </a:solidFill>
            </a:endParaRP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Sakhalin AI Center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3622118"/>
            <a:ext cx="1894354" cy="7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Каменев</a:t>
            </a:r>
            <a:br>
              <a:rPr sz="1600" b="1">
                <a:solidFill>
                  <a:schemeClr val="accent5"/>
                </a:solidFill>
              </a:rPr>
            </a:br>
            <a:r>
              <a:rPr sz="1600" b="1">
                <a:solidFill>
                  <a:schemeClr val="accent5"/>
                </a:solidFill>
              </a:rPr>
              <a:t>Александр</a:t>
            </a:r>
            <a:br>
              <a:rPr sz="1600" b="1">
                <a:solidFill>
                  <a:schemeClr val="accent5"/>
                </a:solidFill>
              </a:rPr>
            </a:br>
            <a:r>
              <a:rPr sz="1600" b="1">
                <a:solidFill>
                  <a:schemeClr val="accent5"/>
                </a:solidFill>
              </a:rPr>
              <a:t>Павлович</a:t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712" y="4400000"/>
            <a:ext cx="1990000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Data Scientist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@linariell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+7 924 283-40-55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Sakhalin AI Center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3622118"/>
            <a:ext cx="1894354" cy="7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Полина</a:t>
            </a:r>
            <a:br>
              <a:rPr sz="1600" b="1">
                <a:solidFill>
                  <a:schemeClr val="accent5"/>
                </a:solidFill>
              </a:rPr>
            </a:br>
            <a:r>
              <a:rPr sz="1600" b="1">
                <a:solidFill>
                  <a:schemeClr val="accent5"/>
                </a:solidFill>
              </a:rPr>
              <a:t>Витковская</a:t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0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030" y="4400000"/>
            <a:ext cx="1990000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Data Scientist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@Gulliver_7774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+7 962 415-23-00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chemeClr val="tx1"/>
                </a:solidFill>
              </a:rPr>
              <a:t>Sakhalin AI Center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894354" cy="7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Марат</a:t>
            </a:r>
            <a:br>
              <a:rPr sz="1600" b="1">
                <a:solidFill>
                  <a:schemeClr val="accent5"/>
                </a:solidFill>
              </a:rPr>
            </a:br>
            <a:r>
              <a:rPr sz="1600" b="1">
                <a:solidFill>
                  <a:schemeClr val="accent5"/>
                </a:solidFill>
              </a:rPr>
              <a:t>Галиулин</a:t>
            </a: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9FF19E1F-10A6-4F4D-9B13-28D2CB0840F3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a8758e34cc024ea4"/>
          <a:srcRect xmlns:a="http://schemas.openxmlformats.org/drawingml/2006/main" l="0" t="303" r="0" b="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467" y="1816054"/>
            <a:ext cx="1722566" cy="1552901"/>
          </a:xfrm>
        </p:spPr>
      </p:pic>
      <p:pic>
        <p:nvPic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E992A85-1917-42C5-B8AC-88568282592E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0f68bf66600e41b2"/>
          <a:srcRect xmlns:a="http://schemas.openxmlformats.org/drawingml/2006/main" l="254" t="0" r="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785" y="1816054"/>
            <a:ext cx="1722566" cy="1552901"/>
          </a:xfrm>
        </p:spPr>
      </p:pic>
      <p:pic>
        <p:nvPic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F210C108-592D-4E18-9F24-441637A12DEC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30f4f1ab1e6a4edf"/>
          <a:srcRect xmlns:a="http://schemas.openxmlformats.org/drawingml/2006/main" l="254" t="0" r="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7103" y="1816054"/>
            <a:ext cx="1722566" cy="1552901"/>
          </a:xfrm>
        </p:spPr>
      </p:pic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</a:t>
            </a:r>
            <a:endParaRPr>
              <a:latin typeface="+mn-l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0ab200409d47b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 КОМАНДЕ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10200000" cy="9342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>
                <a:solidFill>
                  <a:srgbClr val="1C1D22"/>
                </a:solidFill>
              </a:rPr>
              <a:t>Мы пришли из разных областей и познакомились в Sakhalin AI Center, где вместе создаём сложные продукты компьютерного зрения и машинного обучения. Разный опыт помогает смотреть на задачу с нескольких сторон — от физики сенсора до промышленного ML.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10200000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>
                <a:solidFill>
                  <a:srgbClr val="1C1D22"/>
                </a:solidFill>
              </a:rPr>
              <a:t>Потоковый разбор архивов и облачные проверки обошли ограничение локального диска. Пространственное слияние восстановило 13 кадров СТОП на Falcon. Сложные кривые и малые цели на 300 м остаются границами прототипа; для них добавлены отдельные диагностические тесты.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10200000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>
                <a:solidFill>
                  <a:srgbClr val="1C1D22"/>
                </a:solidFill>
              </a:rPr>
              <a:t>Выбрали задачу обнаружения препятствий в тоннеле: темнота, кривые, стрелки и редкие дальние отражения требуют объяснимой геометрии и проверяемой оценки риска. Цель команды: воспроизводимый прототип с понятными границами применимости.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8704277E-1EFF-4EB0-B2EA-9C5E2E8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2EC047C5-74D5-47B6-8D6E-EA8C94B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C0B90A6B-B260-47F6-B175-54D53F4F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1169f8c66b497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chemeClr val="tx1"/>
                </a:solidFill>
              </a:rPr>
              <a:t>ROS 2 Humble, Docker и RViz в браузере. Вход: PointCloud2 с адаптацией осей и монтажа. Геометрия пути и габарита, C++-ядро, два ансамбля LightGBM/CatBoost, временное подтверждение. Falcon: первое совпадение человека 256,56 м по автоматической траектории. Полные новые записи: 1667/1667 сообщений, около 10 Гц в облаке.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chemeClr val="tx1"/>
                </a:solidFill>
              </a:rPr>
              <a:t>Прототип раннего предупреждения для системы беспилотного поезда. Выдаёт расстояние, габарит, неопределённость и решения СТОП / ВНИМАНИЕ. Запуск: закреплённый Docker-образ, noVNC и RViz. Дальнейшее развитие: проверка по маркерам организаторов, повышение чувствительности к малым целям, сложные кривые и испытания на целевом ПК.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216855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latin typeface="Montserrat"/>
                <a:ea typeface="Montserrat"/>
                <a:cs typeface="Montserrat"/>
              </a:rPr>
              <a:t>ПРОБЛЕМА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6B0E715-8BF2-4283-932F-519E42E4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224000"/>
            <a:ext cx="3707999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524C3CE-7835-48C6-BAED-496D435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FD0A47C-A9C2-462A-9BD6-10B5461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015999"/>
            <a:ext cx="3347999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Тоннель — не дорога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E0F8188-F759-412C-9E94-A84F68E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880000"/>
            <a:ext cx="3347999" cy="32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Кривые R ≈ 300–1000 м, уклоны и «горбы» станций, стрелки, платформы, колонны между путями.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Прямоугольник «перед поездом» либо тонет в ложных тревогах на кривой, либо смотрит мимо пути.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555B7C3-5DD1-4F09-9E02-CA5F2C9B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000" y="1224000"/>
            <a:ext cx="3707999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68472BA-35FD-48A9-A7ED-4A45281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12C8EF2-AA9A-4DFE-BD7C-3F0A9AC9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2015999"/>
            <a:ext cx="3347999" cy="331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На 200 м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B946046-94CA-40D2-ACFF-1FAED4EC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2880000"/>
            <a:ext cx="3347999" cy="32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Pandar128: 0.125° по вертикали — на 160 м шаг лучей 0.35 м, человек даёт ≈ 9 отражений.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Стены видны под скользящим углом, дальняя геометрия пути неоднозначна.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9F3866E-3328-47A9-8A14-9D64184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999" y="1224000"/>
            <a:ext cx="3707999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9FAB22C-F5A7-4122-BEE8-8729CA6C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999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8C646A1-961A-4EF7-8DF7-481A8A3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999" y="2015999"/>
            <a:ext cx="3347999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Ложная тревога = остановка линии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F5EDFD1-CA07-4F5A-99DC-C020972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999" y="2880000"/>
            <a:ext cx="3347999" cy="32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Большинство записей — пустой тоннель: размеченных препятствий почти нет.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Нужен не только ответ «есть / нет», но и честная оценка: насколько далеко путь действительно проверен.</a:t>
            </a:r>
          </a:p>
        </p:txBody>
      </p:sp>
    </p:spTree>
    <p:extLst>
      <p:ext uri="{BB962C8B-B14F-4D97-AF65-F5344CB8AC3E}">
        <p14:creationId xmlns:p14="http://schemas.microsoft.com/office/powerpoint/2010/main" val="2478000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1340159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latin typeface="Montserrat"/>
                <a:ea typeface="Montserrat"/>
                <a:cs typeface="Montserrat"/>
              </a:rPr>
              <a:t>ИДЕЯ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B61B76E7-7468-40EA-99D9-72766CA2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224000"/>
            <a:ext cx="2736000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5044F0A-7195-4B29-8287-29909FC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19EF627-DD76-463C-AF18-2CB660F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015999"/>
            <a:ext cx="2376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Путь из данных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313AA19-487A-49CB-B99B-639AD220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880000"/>
            <a:ext cx="2376000" cy="1964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Рельсы и сечение тоннеля задают ось пути. Сенсорная адаптация оценивает ориентацию и монтаж. Временная память стабилизирует редкие дальние отражения.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0D5642F-051F-4319-8538-FA030184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000" y="1224000"/>
            <a:ext cx="2736000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0BBFF4F-9D31-44B9-980E-7B400D8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6083C2F-B335-41CF-B07B-94C9B89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2015999"/>
            <a:ext cx="2376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Габарит из данных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0361219-3487-4FE1-B7ED-209D34E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2880000"/>
            <a:ext cx="2376000" cy="32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Свободное пространство всех записей в координатах пути задаёт форму габарита: контактный рельс, платформы, стены, свод.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AAC7598B-2AE2-435C-ABCC-AA65B5EF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0" y="1224000"/>
            <a:ext cx="2736000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BCA2CE6-29CD-4B4D-8AE7-697F50C2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000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0700387-73BF-4D84-97BB-66CC112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000" y="2015999"/>
            <a:ext cx="2376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Решение с σ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07050B3-96EB-4556-A7F1-7E56D5B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000" y="2880000"/>
            <a:ext cx="2376000" cy="220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Неопределённость σ(x) ограничивает доверие к пути. Измеренная геометрия отделена от экстраполяции. СТОП требует подтверждённой цели и достоверного положения внутри габарита.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100D9754-0C91-4B29-9BD2-28588576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999" y="1224000"/>
            <a:ext cx="2736000" cy="500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92A07E1-99C6-42F5-8088-6893280F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999" y="1386000"/>
            <a:ext cx="10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16774EE-2915-43AA-AB59-E5FF3319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999" y="2015999"/>
            <a:ext cx="2376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Физика + ML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6097A33-769C-4FBE-B598-AA8CF72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999" y="2880000"/>
            <a:ext cx="2376000" cy="32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buNone/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Инварианты: объект не «сдвигает» путь, инфраструктура крепится к оболочке. Ансамбль ML на физических признаках отсеивает ложные кластеры дальше 30 м.</a:t>
            </a:r>
          </a:p>
        </p:txBody>
      </p:sp>
    </p:spTree>
    <p:extLst>
      <p:ext uri="{BB962C8B-B14F-4D97-AF65-F5344CB8AC3E}">
        <p14:creationId xmlns:p14="http://schemas.microsoft.com/office/powerpoint/2010/main" val="14016159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254539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latin typeface="Montserrat"/>
                <a:ea typeface="Montserrat"/>
                <a:cs typeface="Montserrat"/>
              </a:rPr>
              <a:t>АРХИТЕКТУРА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77C7646-DF72-4A24-9E0B-32398987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188000"/>
            <a:ext cx="11484000" cy="4464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992C693-73EF-4935-92B4-F7E4565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5796000"/>
            <a:ext cx="10800000" cy="540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24128EA-DB8D-4181-B58F-44B089C1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" y="5796000"/>
            <a:ext cx="10512000" cy="474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Запуск: закреплённый Docker-образ, RViz через noVNC и ros2 bag play. Ядро: C++ и NumPy/Numba. 46 native-тестов и проверка воспроизводимости через Compose.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9C247-3DAF-43C5-BD6E-5D15492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525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Docker, Ubuntu 22.04, ROS 2 Humble. Геометрия C++, NumPy/Numba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0A28B-A9F0-462B-8311-39841C3E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1123950" cy="14287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4CD2D-4885-49D5-871A-AEDE785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62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Облако точек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83DB0-EC4B-4399-AD88-5C4C9FB6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31470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ROS 2 bag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или живой лидар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Falcon / Hesai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756B3-2914-4C63-AC6B-07C6D2B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575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AACE21-22BD-4E60-8592-EBAEF338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47950"/>
            <a:ext cx="1123950" cy="14287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96919-033A-4DA6-BD35-33862A2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Подготовка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C42D0F-05F4-407F-8167-341F1E2E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1470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PointCloud2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Оси и монтаж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Плотность лучей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1F86BF-A8D0-4B73-BD82-AC7FB74A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575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BE338-54FD-4490-972D-646BE25F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2047875" cy="30003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75AAF-DCF6-4F4F-9C0B-15BFD64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66925"/>
            <a:ext cx="1876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Геометрия пути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EA276F-2592-47CC-9306-13A6470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19375"/>
            <a:ext cx="187642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Рельсы и их непрерывность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Шаблон сечения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Глобальный DP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Гаусс–Ньютон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Неопределённость σ(x)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433225-484B-46D3-8CF7-3AEF4F41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3C103-F29C-4779-80AA-7F7F50B6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52625"/>
            <a:ext cx="1285875" cy="13335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0855B-6E08-44A6-91C6-875BA240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1114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Габарит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0E1A8C-208C-4548-BBF3-9E75946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19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Измерения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Экстраполяция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Зоны с учётом 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DD67B2-79FC-463F-B6CE-9B536752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19500"/>
            <a:ext cx="1285875" cy="13335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996FD0-BC3D-4F77-9EE0-FEA57F41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1114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Кандидаты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10DEBF-2CC4-4702-A4D8-25B290F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Кластеры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Физические тесты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Пыль отдельно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765157-99CE-4435-9E09-4B8711CB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43375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386B51-03B3-4C90-A058-F0A0459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1285875" cy="13335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A0B233-D62D-4E74-9DDD-534F61F8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33800"/>
            <a:ext cx="1114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Два эксперта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E819BA-00E7-4CFD-A54F-5F2F2950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286250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У пола / подвес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½ LightGBM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½ CatBoost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3A91ED-6091-42C1-B6C3-8C53D852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1285875" cy="13335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EC19A0-A62E-4DC2-8982-AE856921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66925"/>
            <a:ext cx="1114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Трек и память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0A91EA-BE72-4F27-A640-DC73BDE8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19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Треки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Дальняя память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Свежие возвраты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0E96AE-511F-406E-91A4-B13DE8A6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3AE8B5-C147-4FA9-80FC-3E176CC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52625"/>
            <a:ext cx="1190625" cy="30003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C4820-BA5D-4544-9145-5765960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66925"/>
            <a:ext cx="1019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Решение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13E504-2514-496A-AE46-F2B9B786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0191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СВОБОДНО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ВНИМАНИЕ</a:t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СТОП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ROS 2 и RViz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6419AC-84D5-46AD-83AC-988FE33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14700"/>
            <a:ext cx="1143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69B231-DCFD-487F-811F-FED85194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14700"/>
            <a:ext cx="114300" cy="2762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224287-266E-4972-971D-D6FAFDC7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530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Кандидаты проходят оценку и временное подтверждение. Рассеяние не запускает СТОП.</a:t>
            </a:r>
          </a:p>
        </p:txBody>
      </p:sp>
    </p:spTree>
    <p:extLst>
      <p:ext uri="{BB962C8B-B14F-4D97-AF65-F5344CB8AC3E}">
        <p14:creationId xmlns:p14="http://schemas.microsoft.com/office/powerpoint/2010/main" val="10076745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07529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latin typeface="Montserrat"/>
                <a:ea typeface="Montserrat"/>
                <a:cs typeface="Montserrat"/>
              </a:rPr>
              <a:t>ГЕОМЕТРИЯ ПУТИ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E7011B7-15AA-4939-88A6-414D157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188000"/>
            <a:ext cx="7703999" cy="3311999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B0AA5A5C-BCEB-42ED-81D9-A3E7BACDA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f0ff66a6f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000" y="1527255"/>
            <a:ext cx="7452000" cy="2633489"/>
          </a:xfrm>
          <a:prstGeom xmlns:a="http://schemas.openxmlformats.org/drawingml/2006/main" prst="rect">
            <a:avLst/>
          </a:prstGeom>
        </p:spPr>
      </p:pic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0604456-7B03-4359-AAD3-6653174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999" y="1188000"/>
            <a:ext cx="3600000" cy="51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AC5225C-01DC-4B89-9664-63D7083E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000" y="1332000"/>
            <a:ext cx="324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Как восстанавливается путь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Рельсы 3–45 м: </a:t>
            </a:r>
            <a:r>
              <a:rPr sz="1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гребни BEV + пара рельсов 1520 мм, глобальный DP Витерби.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Шаблон сечения: </a:t>
            </a:r>
            <a:r>
              <a:rPr sz="1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ближние точки в координатах пути — модель «нормального тоннеля».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Глобальный DP до 300 м: </a:t>
            </a:r>
            <a:r>
              <a:rPr sz="1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путь не может уйти вбок на метры — компактный объект его не изогнёт.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Гаусс–Ньютон: </a:t>
            </a:r>
            <a:r>
              <a:rPr sz="1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каждая точка ложится на шаблон; клотоидный априор, веса Тьюки.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Инвариантность: </a:t>
            </a:r>
            <a:r>
              <a:rPr sz="1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точки внутри габарита не участвуют в оценке пути.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</a:pPr>
            <a:r>
              <a:rPr sz="1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Калман по времени: </a:t>
            </a:r>
            <a:r>
              <a:rPr sz="1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сливается только измеренное; экстраполяция растит σ.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882E5E5-D795-455B-A041-EBE60082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644000"/>
            <a:ext cx="7703999" cy="169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62535-94D7-4400-B7C2-5406C66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Проверка геометрии на кривых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073BD-ED73-4769-86EF-2CCD0D43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6232B"/>
                </a:solidFill>
                <a:latin typeface="Montserrat"/>
                <a:ea typeface="Montserrat"/>
                <a:cs typeface="Montserrat"/>
              </a:rPr>
              <a:t>Исторический пример слева относится к квалификации. В движущихся тестах на кривых ±500 м остаются пропуски. Видимость ограничивают стены тоннеля, дальняя экстраполяция сохраняет растущую неопределённость.</a:t>
            </a:r>
          </a:p>
        </p:txBody>
      </p:sp>
    </p:spTree>
    <p:extLst>
      <p:ext uri="{BB962C8B-B14F-4D97-AF65-F5344CB8AC3E}">
        <p14:creationId xmlns:p14="http://schemas.microsoft.com/office/powerpoint/2010/main" val="3208130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6533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latin typeface="Montserrat"/>
                <a:ea typeface="Montserrat"/>
                <a:cs typeface="Montserrat"/>
              </a:rPr>
              <a:t>ГАБАРИТ ИЗ ДАННЫХ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B37D70AD-AB5E-45D7-8BDA-339E0E3A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188000"/>
            <a:ext cx="5472000" cy="5148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89FE7732-7203-478C-8F89-55966E5B0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4a84c79204a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000" y="1828024"/>
            <a:ext cx="5220000" cy="3867950"/>
          </a:xfrm>
          <a:prstGeom xmlns:a="http://schemas.openxmlformats.org/drawingml/2006/main" prst="rect">
            <a:avLst/>
          </a:prstGeom>
        </p:spPr>
      </p:pic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7F9E2D3-AB1C-4C41-8D93-52C3AC6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000" y="1188000"/>
            <a:ext cx="5832000" cy="51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838C91-DC02-4A61-ACFD-7B12515C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000" y="1368000"/>
            <a:ext cx="5400000" cy="48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Что измерено по всем записям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Контактный рельс: |l| = 1.22 м на высоте 0.2–0.45 м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Край платформы: ≥ 1.37 м (h 0.6–1.4 м)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Стены: ≥ 1.48 м; свод круглого тоннеля 1.18 м на высоте 3.43 м; потолок прямоугольного 3.8 м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Объекты ниже 0.15 м над головкой рельса игнорируются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Зоны решения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ВНУТРИ</a:t>
            </a: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— внутри габарита, сжатого на 2σ → кандидат в STOP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РЯДОМ</a:t>
            </a: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— касание в пределах погрешности → CAUTION (информирует, не тормозит)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8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Габарит обнаружения лежит внутри свободного пространства всех тоннелей — поезда физически проходят через него.</a:t>
            </a:r>
          </a:p>
        </p:txBody>
      </p:sp>
    </p:spTree>
    <p:extLst>
      <p:ext uri="{BB962C8B-B14F-4D97-AF65-F5344CB8AC3E}">
        <p14:creationId xmlns:p14="http://schemas.microsoft.com/office/powerpoint/2010/main" val="7668285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2547167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latin typeface="Montserrat"/>
                <a:ea typeface="Montserrat"/>
                <a:cs typeface="Montserrat"/>
              </a:rPr>
              <a:t>ФИЗИКА + ML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0614918-E593-47F7-B8EA-6E8335C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188000"/>
            <a:ext cx="11484000" cy="3384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9D9AA27-BE60-45AB-AFB2-76254907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716000"/>
            <a:ext cx="3708000" cy="162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815FC50-65C4-454A-906F-6EBFCAA7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000" y="4716000"/>
            <a:ext cx="3708000" cy="162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7575B37-B16A-4CA0-9371-31E8795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000" y="4716000"/>
            <a:ext cx="3708000" cy="162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FD6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301B28-97E8-4A6E-A686-F9E32C4D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Физические признаки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148EC-9CF7-4922-AACD-1C1FEADD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1017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rPr>
              <a:t>38 признаков кластера. Обучение использует кандидатов и лучевые инъекции. Маркеры организаторов проверяются отдельно. Пыль выводится информационно.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158FD-1850-418E-92FE-A38A075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Проверка обобщения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CA81FF-F678-4B6C-B97C-ED8CCA78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rPr>
              <a:t>Квалификация: leave-one-tunnel-out. Финал: полный Falcon, 68 +255 условий и 51 анатомический тест. Синтетика не заменяет реальные классовые FP/FN.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961E24-A68C-4051-801F-592D5019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Два специалиста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51EA8-9D3B-4450-AB26-3A60457D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21017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26232B"/>
                </a:solidFill>
                <a:latin typeface="Montserrat"/>
                <a:ea typeface="Montserrat"/>
                <a:cs typeface="Montserrat"/>
              </a:rPr>
              <a:t>Объекты у пола и подвешенные объекты. В каждом ½ LightGBM +½ CatBoost в логитах. Временная память дополняет покадровую оценку. PI-MLP относится к старой версии.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498F0-1243-4BFE-B4DE-D8772348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defPPr>
            <a:lvl1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60080"/>
                </a:solidFill>
                <a:latin typeface="Montserrat"/>
                <a:ea typeface="Montserrat"/>
                <a:cs typeface="Montserrat"/>
              </a:rPr>
              <a:t>Физические признаки и два специалиста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6D9CA7-A4BB-442A-BCCF-8867556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E07C93-CAF4-4C21-A4AE-35615170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098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Кластер и физика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CC04AE-2B8A-4FCC-B187-99640768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62250"/>
            <a:ext cx="20193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38 признаков: форма, опора, оболочка, угол и плотность возвратов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DC591B-FFBB-4FD0-AA46-5DB14AB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0375"/>
            <a:ext cx="3429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F7916D-628C-4CD1-BC46-9D9FF081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2CB69A-9D7A-4A99-A3D9-CA4C2B7D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240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Объект у пола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AD806C-A3BF-4531-9BA2-4681179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7650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½ LightGBM + ½ CatBoost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Среднее логитов, JSON-модели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BA86FE-DD2E-422C-9F12-85FD0CD4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66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EA2585-4EB9-4B9D-AB08-3F3D9F89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480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Подвешенный объект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543763-786C-46F8-8A5E-9E03169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00500"/>
            <a:ext cx="2495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½ LightGBM + ½ CatBoost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Отдельный эксперт для подвеса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8EBF7D-18B3-4CCF-8494-F12EF45F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3429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6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463795-7DEE-4A6C-9970-0DC73EA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381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008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F230EF-FDC6-4201-ADD6-A20D937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240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defPPr>
            <a:lvl1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4E0875"/>
                </a:solidFill>
                <a:latin typeface="Montserrat"/>
                <a:ea typeface="Montserrat"/>
                <a:cs typeface="Montserrat"/>
              </a:rPr>
              <a:t>Решение и память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33D1B9-EB9D-4609-85A6-95B2028E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76500"/>
            <a:ext cx="42100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defPPr>
            <a:lvl1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1pPr>
            <a:lvl2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2pPr>
            <a:lvl3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3pPr>
            <a:lvl4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4pPr>
            <a:lvl5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5pPr>
            <a:lvl6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6pPr>
            <a:lvl7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7pPr>
            <a:lvl8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8pPr>
            <a:lvl9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Геометрия и свежие возвраты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Слияние по пространству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Временная память и трек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76477"/>
                </a:solidFill>
                <a:latin typeface="Montserrat"/>
                <a:ea typeface="Montserrat"/>
                <a:cs typeface="Montserrat"/>
              </a:rPr>
              <a:t>Пылевой флаг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976161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5CDA8-49B1-44F4-A801-69878A5C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Реальный Falcon: первое совпадение человека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B1A61-863C-44E6-9BFC-4409CE6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4DC64-6127-4126-B9B1-E26A140B7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c78ac29794c82"/>
          <a:stretch xmlns:a="http://schemas.openxmlformats.org/drawingml/2006/main"/>
        </p:blipFill>
        <p:spPr>
          <a:xfrm xmlns:a="http://schemas.openxmlformats.org/drawingml/2006/main">
            <a:off x="1989667" y="1333500"/>
            <a:ext cx="8212667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DE0CF-7846-411E-B9FD-C6EA70A1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256,56 м по автоматической траектории. Это наблюдение одной цели</a:t>
            </a:r>
          </a:p>
        </p:txBody>
      </p:sp>
    </p:spTree>
    <p:extLst>
      <p:ext uri="{BB962C8B-B14F-4D97-AF65-F5344CB8AC3E}">
        <p14:creationId xmlns:p14="http://schemas.microsoft.com/office/powerpoint/2010/main" val="311016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28A13-8956-4A95-B356-B643C2D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Устойчивость СТОП после пространственного исправления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E67CB-5D14-4E03-860F-3CF28A7E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39DF410-91B5-471E-B63A-FACF1E9E127F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0131609b9043a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5B6C3-B13A-49DB-A948-79F021C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705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A9FBE-5655-414A-BAFD-0A9CFE06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97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718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CBE3-7005-4009-847C-5CD69FBF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13 кадров восстановлены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60C02-361A-4C3A-B7A2-494C8371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4095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24 → 11</a:t>
            </a:r>
          </a:p>
          <a:p xmlns:a="http://schemas.openxmlformats.org/drawingml/2006/main">
            <a: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кадров без СТОП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1,7 → 1,0 с</a:t>
            </a:r>
          </a:p>
          <a:p xmlns:a="http://schemas.openxmlformats.org/drawingml/2006/main">
            <a: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максимальный провал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860BB-7C13-4E34-8059-EA4CE460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Знаменатель: 729 кадров. Детекции и отрицательные контроли сохранены</a:t>
            </a:r>
          </a:p>
        </p:txBody>
      </p:sp>
    </p:spTree>
    <p:extLst>
      <p:ext uri="{BB962C8B-B14F-4D97-AF65-F5344CB8AC3E}">
        <p14:creationId xmlns:p14="http://schemas.microsoft.com/office/powerpoint/2010/main" val="377711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F7146-5AC8-4703-B072-AD4730D9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Данные квалификации и финала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C1E89-5FE5-4453-8951-63E6940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5686C-7AC1-42CD-A5FB-38E10887FDB5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5429250"/>
                <a:gridCol w="20955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Источник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Тип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Проверенные кадры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falcon_test.zst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Реальная запись: поезд и человек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4443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cloud_with_fake_obj.zst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Квалификация с искусственными объектами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new_synth_data.zst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Синтетика организаторов: три сцены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Наши инъекции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 дальностей, известное положение цели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68 + 255 условий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4FFD9-20EE-4E3E-A4CB-DDC98BC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Архив квалификации восстановлен и проверен по SHA-256. Новые маркеры организаторов получены отдельно от наших инъекций</a:t>
            </a:r>
          </a:p>
        </p:txBody>
      </p:sp>
    </p:spTree>
    <p:extLst>
      <p:ext uri="{BB962C8B-B14F-4D97-AF65-F5344CB8AC3E}">
        <p14:creationId xmlns:p14="http://schemas.microsoft.com/office/powerpoint/2010/main" val="1971113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AF729-F4B4-4096-ACDA-92C33294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Полные новые записи: около 10 Гц в ROS и RViz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53A44-2E86-4BCC-BD9D-2BA02F87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BCC5E-31B8-4318-AB01-B84A7CEA946C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095500"/>
                <a:gridCol w="2571750"/>
                <a:gridCol w="31432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Сцена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Получено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Частота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p95 callback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Платформа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386/386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9,9918 Гц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62,97 мс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Стрелка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736/736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9,9976 Гц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56,54 мс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Тоннель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545/545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10,0004 Гц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57,53 мс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14F21-4599-430F-AF45-939D8BA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C++-геометрия, 46 native-тестов. Короткий Falcon: три раза по 301/301 после ожидания DDS ACK последнего скана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8AB5C-091A-4166-8A48-B5F93C0A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340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Средняя частота не гарантирует каждый период 100 мс. На другом ПК требуется измерение</a:t>
            </a:r>
          </a:p>
        </p:txBody>
      </p:sp>
    </p:spTree>
    <p:extLst>
      <p:ext uri="{BB962C8B-B14F-4D97-AF65-F5344CB8AC3E}">
        <p14:creationId xmlns:p14="http://schemas.microsoft.com/office/powerpoint/2010/main" val="12290760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3B79F-6580-4DC4-B4AE-2F446FB0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Проверка дальности на реальном фоне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0C167-2646-4F6B-9F46-AC5DA49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43F028E-0EBE-470D-9EE1-49479E8822C0}"/>
              </a:ext>
            </a:extLst>
          </p:cNvPr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9b790f3bcf41a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D41DE-3B54-4475-BA84-4B4180B8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Человек-прокси: доля из 50 кадров, %. 17 расстояний от 60 до 300 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22B88-AC45-44D7-891A-F3DF98D8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Диагностика чувствительности и пропусков. Общие реальные фоны ограничивают независимость оценки</a:t>
            </a:r>
          </a:p>
        </p:txBody>
      </p:sp>
    </p:spTree>
    <p:extLst>
      <p:ext uri="{BB962C8B-B14F-4D97-AF65-F5344CB8AC3E}">
        <p14:creationId xmlns:p14="http://schemas.microsoft.com/office/powerpoint/2010/main" val="16915949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AED1A-52A4-4C1E-AA33-A80DAA0B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Анатомический человек: внутри и снаружи габарита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3B1A1-3323-48EA-A792-7C09DCC6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C5017-FB62-46D4-9E15-BD4DDCC0D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027ed3e0548c3"/>
          <a:stretch xmlns:a="http://schemas.openxmlformats.org/drawingml/2006/main"/>
        </p:blipFill>
        <p:spPr>
          <a:xfrm xmlns:a="http://schemas.openxmlformats.org/drawingml/2006/main">
            <a:off x="953294" y="1504950"/>
            <a:ext cx="10285413" cy="3981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2792A-AC5F-4F33-811B-8A97987C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60–215 м: 48/50 детекций. 250 м: 47/50. 300 м: 8/50, СТОП 0/50. Вне пути: 0/1700 предупреждений и СТОП</a:t>
            </a:r>
          </a:p>
        </p:txBody>
      </p:sp>
    </p:spTree>
    <p:extLst>
      <p:ext uri="{BB962C8B-B14F-4D97-AF65-F5344CB8AC3E}">
        <p14:creationId xmlns:p14="http://schemas.microsoft.com/office/powerpoint/2010/main" val="10194859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0E6D4-0AAE-46A8-8318-74E09BE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Новые маркеры и сценарии организаторов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36C60-3ABF-4DF1-92ED-1EE22396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8642B-19F2-4841-BEAD-431477D55178}"/>
              </a:ext>
            </a:extLst>
          </p:cNvPr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915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Запись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3DCC4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Состав последовательности из obstacles.md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T w="9525">
                      <a:solidFill>
                        <a:srgbClr val="2E4A60"/>
                      </a:solidFill>
                    </a:lnT>
                    <a:lnB w="9525">
                      <a:solidFill>
                        <a:srgbClr val="2E4A60"/>
                      </a:solidFill>
                    </a:lnB>
                    <a:solidFill>
                      <a:srgbClr val="18354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Платформа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Пыль, малые кубы справа и слева, человек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Стрелка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Малые кубы, наклонный подвесной кабель, четыре облака пыли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Тоннель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2E4A60"/>
                      </a:solidFill>
                    </a:lnL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6F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Малые кубы, куб 2×2×2 м, балка поперёк рельсов, пыль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2E4A60"/>
                      </a:solidFill>
                    </a:lnR>
                    <a:lnB w="9525">
                      <a:solidFill>
                        <a:srgbClr val="2E4A60"/>
                      </a:solidFill>
                    </a:lnB>
                    <a:solidFill>
                      <a:srgbClr val="09172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F423A-5C6A-4A03-9072-7D867B0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1667 кадров обработаны с замороженным native-детектором. Экспортированы положение, ориентация и размеры маркеров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5EC5A-E925-40B6-84A7-B58FBAF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Семантика классов и ожидаемая реакция проверяются отдельно от геометрического совпадения</a:t>
            </a:r>
          </a:p>
        </p:txBody>
      </p:sp>
    </p:spTree>
    <p:extLst>
      <p:ext uri="{BB962C8B-B14F-4D97-AF65-F5344CB8AC3E}">
        <p14:creationId xmlns:p14="http://schemas.microsoft.com/office/powerpoint/2010/main" val="5304723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CB421-3FA1-4211-B987-B0EA20B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Пыль и человек вне пути: отрицательные контроли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E6466-C174-4391-B14E-4F12BA07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80E4F-56B6-409A-A930-DCB9324F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0 / 2550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BA66C-399C-421A-8E11-FCEADBDC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нежелательных СТОП</a:t>
            </a:r>
          </a:p>
          <a:p xmlns:a="http://schemas.openxmlformats.org/drawingml/2006/main">
            <a: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у пылевой инъекции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7B7EE-2106-4CFE-B2D4-A5310119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5100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0 / 2550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C9AB5-1737-4FA4-9800-79AADE85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предупреждений и СТОП</a:t>
            </a:r>
          </a:p>
          <a:p xmlns:a="http://schemas.openxmlformats.org/drawingml/2006/main">
            <a:pPr>
              <a:def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у человека вне пути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6F3FA-CCFC-423B-AB09-9DAC040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Флаг рассеяния информационный. Пыль не должна запускать торможение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FF9ED-BB76-4D8F-9095-0F4E1D11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Эти нули относятся к зафиксированной синтетике. Новые сцены организаторов требуют сопоставления с их маркерами</a:t>
            </a:r>
          </a:p>
        </p:txBody>
      </p:sp>
    </p:spTree>
    <p:extLst>
      <p:ext uri="{BB962C8B-B14F-4D97-AF65-F5344CB8AC3E}">
        <p14:creationId xmlns:p14="http://schemas.microsoft.com/office/powerpoint/2010/main" val="2928497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EE727-0A86-475A-ABA0-12D9AE90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Фильтр провода и устойчивость дальних целей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DB7F7-A96C-4C49-8308-F216E72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BFDC7-A765-46C6-B20F-6CD9A99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21 кадр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E93D8-8F85-437C-8DA5-D22786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памяти предупреждений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16F00-A330-4238-BECE-3833C31F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defPPr>
            <a:lvl1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F8C76C"/>
                </a:solidFill>
                <a:latin typeface="Montserrat"/>
                <a:ea typeface="Montserrat"/>
                <a:cs typeface="Montserrat"/>
              </a:rPr>
              <a:t>15 кадров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3B3B9-8E9B-4A0B-97EA-CC27DEDC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окно свежих доказательств СТОП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D40C1-4A8C-4642-AEE3-0A37540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Подтверждённый трек удерживается до 10 кадров. Синтетический провал 0,5 с: 0/5 → 5/5 кадров СТОП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1ABCA-F5F8-4CED-A2A7-A5BF716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Точный исходный реальный провод требует отдельного подтверждения. Новая сцена содержит наклонный кабель с маркером</a:t>
            </a:r>
          </a:p>
        </p:txBody>
      </p:sp>
    </p:spTree>
    <p:extLst>
      <p:ext uri="{BB962C8B-B14F-4D97-AF65-F5344CB8AC3E}">
        <p14:creationId xmlns:p14="http://schemas.microsoft.com/office/powerpoint/2010/main" val="9229026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0442C-30CC-41F9-86A3-885EDBF5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Границы и следующие технические улучшения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01EC1-9205-4330-85BE-D4AF7FA9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653FD-9F14-4FB0-A11F-8E8389FD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Малые дальние цели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2F3C9-1C0F-4DEE-906A-9813576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Накопление с компенсацией движения и неопределённости. Проверка нескольких поз, отражаемостей и фаз скана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66562-92BB-4D65-B4F3-B524D7A1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Кривые и стрелки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9090B-0758-47CE-BCE7-61D9080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Несколько гипотез пути, связь пары рельсов, проверка смены кривизны и ограничение экстраполяции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5D06-D419-4289-994C-4CCCB55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Проверка ошибок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17B11-8BED-4102-BF64-F8CB79B7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Геометрические маркеры, порядок из obstacles.md, отрицательные сцены и раздельные показатели по типу цели</a:t>
            </a:r>
          </a:p>
        </p:txBody>
      </p:sp>
    </p:spTree>
    <p:extLst>
      <p:ext uri="{BB962C8B-B14F-4D97-AF65-F5344CB8AC3E}">
        <p14:creationId xmlns:p14="http://schemas.microsoft.com/office/powerpoint/2010/main" val="13867722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AA6AA-F042-4B00-9965-21C80D4E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Запуск на компьютере экспертов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8E710-6B4A-4814-8DE3-E3DFD19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0D08D-C636-4786-96B8-1DF6836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1104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Docker + Compose, Linux containers</a:t>
            </a:r>
          </a:p>
          <a:p xmlns:a="http://schemas.openxmlformats.org/drawingml/2006/main">
            <a: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Готовый образ по SHA-256 digest</a:t>
            </a:r>
          </a:p>
          <a:p xmlns:a="http://schemas.openxmlformats.org/drawingml/2006/main">
            <a: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RViz в браузере через noVNC</a:t>
            </a:r>
          </a:p>
          <a:p xmlns:a="http://schemas.openxmlformats.org/drawingml/2006/main">
            <a:pPr>
              <a:def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Пауза, скорость, шаг и смена бэга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C4B57-72D5-427A-B3E1-30C3EC1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docker compose -f compose.repro.yaml pull</a:t>
            </a:r>
          </a:p>
          <a:p xmlns:a="http://schemas.openxmlformats.org/drawingml/2006/main">
            <a: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docker compose -f compose.repro.yaml up -d</a:t>
            </a:r>
          </a:p>
          <a:p xmlns:a="http://schemas.openxmlformats.org/drawingml/2006/main">
            <a:pPr>
              <a:def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docker compose -f compose.repro.yaml exec tunnelguard bash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2981F-E1C8-4591-941E-EEE240C2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Внутри контейнера: tg play /data/имя_бэга 1.0 --start-paused. CI: 301/301 ROS/RViz, 12/12 операций управления. Подробная инструкция — в README</a:t>
            </a:r>
          </a:p>
        </p:txBody>
      </p:sp>
    </p:spTree>
    <p:extLst>
      <p:ext uri="{BB962C8B-B14F-4D97-AF65-F5344CB8AC3E}">
        <p14:creationId xmlns:p14="http://schemas.microsoft.com/office/powerpoint/2010/main" val="12877750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89BA-78F1-42E7-A362-2EDF1FE3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Демонстрация и воспроизводимые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58B2D-554D-4310-AB51-4C71F91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defPPr>
            <a:lvl1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1pPr>
            <a:lvl2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2pPr>
            <a:lvl3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3pPr>
            <a:lvl4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4pPr>
            <a:lvl5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5pPr>
            <a:lvl6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6pPr>
            <a:lvl7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7pPr>
            <a:lvl8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8pPr>
            <a:lvl9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A9BED2"/>
                </a:solidFill>
                <a:latin typeface="Montserrat"/>
                <a:ea typeface="Montserrat"/>
                <a:cs typeface="Montserrat"/>
              </a:rPr>
              <a:t>СахалИИн  /  TunnelGuard  /  финал 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F5DC-F70D-4897-9F98-DF7B5E6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defPPr>
            <a:lvl1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1pPr>
            <a:lvl2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2pPr>
            <a:lvl3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3pPr>
            <a:lvl4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4pPr>
            <a:lvl5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5pPr>
            <a:lvl6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6pPr>
            <a:lvl7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7pPr>
            <a:lvl8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8pPr>
            <a:lvl9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defRPr>
            </a:pPr>
            <a:r>
              <a:rPr sz="4950" b="1">
                <a:solidFill>
                  <a:srgbClr val="F1F6FC"/>
                </a:solidFill>
                <a:latin typeface="Montserrat"/>
                <a:ea typeface="Montserrat"/>
                <a:cs typeface="Montserrat"/>
              </a:rPr>
              <a:t>СахалИИн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69117-BBF6-461E-98B8-BE61EC23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100" u="sng">
                <a:solidFill>
                  <a:srgbClr val="43DCC4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53779eba3cb5496d"/>
              </a:rPr>
              <a:t>Интерактивный сайт и видео 7:20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5B6ED-87CD-425B-BE97-7576C883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100" u="sng">
                <a:solidFill>
                  <a:srgbClr val="43DCC4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6b97ac20795344bf"/>
              </a:rPr>
              <a:t>Код, README и исходные результаты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F8BFD-B906-4888-B8A0-CDE65A40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100" u="sng">
                <a:solidFill>
                  <a:srgbClr val="43DCC4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678cb3f792e14125"/>
              </a:rPr>
              <a:t>Версия квалификационного этапа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D14F5-9A73-4E90-8ACF-2ADEB169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defPPr>
            <a:lvl1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1pPr>
            <a:lvl2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2pPr>
            <a:lvl3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3pPr>
            <a:lvl4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4pPr>
            <a:lvl5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5pPr>
            <a:lvl6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6pPr>
            <a:lvl7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7pPr>
            <a:lvl8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8pPr>
            <a:lvl9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43DCC4"/>
                </a:solidFill>
                <a:latin typeface="Montserrat"/>
                <a:ea typeface="Montserrat"/>
                <a:cs typeface="Montserrat"/>
              </a:rPr>
              <a:t>Геометрия объясняет решение. Тесты показывают его границы</a:t>
            </a:r>
          </a:p>
        </p:txBody>
      </p:sp>
    </p:spTree>
    <p:extLst>
      <p:ext uri="{BB962C8B-B14F-4D97-AF65-F5344CB8AC3E}">
        <p14:creationId xmlns:p14="http://schemas.microsoft.com/office/powerpoint/2010/main" val="38986011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2026-10-20T00:36:46.6510000Z</dcterms:created>
  <dcterms:modified xsi:type="dcterms:W3CDTF">2026-10-20T00:36:46.6510000Z</dcterms:modified>
</coreProperties>
</file>