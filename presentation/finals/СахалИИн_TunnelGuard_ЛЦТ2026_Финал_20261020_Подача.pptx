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8e1c97ba47440c" /><Relationship Type="http://schemas.openxmlformats.org/officeDocument/2006/relationships/extended-properties" Target="/docProps/app.xml" Id="R981740af5582462f" /><Relationship Type="http://schemas.openxmlformats.org/officeDocument/2006/relationships/officeDocument" Target="/ppt/presentation.xml" Id="Rcd1d15fb622e4b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5717392be249a9"/>
  </p:sldMasterIdLst>
  <p:notesMasterIdLst>
    <p:notesMasterId xmlns:r="http://schemas.openxmlformats.org/officeDocument/2006/relationships" r:id="R0a1a5e693ae240c6"/>
  </p:notesMasterIdLst>
  <p:sldIdLst>
    <p:sldId xmlns:r="http://schemas.openxmlformats.org/officeDocument/2006/relationships" id="256" r:id="Rb71fa962a3444ce9"/>
    <p:sldId xmlns:r="http://schemas.openxmlformats.org/officeDocument/2006/relationships" id="257" r:id="Rab9496b507654471"/>
    <p:sldId xmlns:r="http://schemas.openxmlformats.org/officeDocument/2006/relationships" id="258" r:id="Rcb78d02028d84aaf"/>
    <p:sldId xmlns:r="http://schemas.openxmlformats.org/officeDocument/2006/relationships" id="259" r:id="R843d00aa93574060"/>
    <p:sldId xmlns:r="http://schemas.openxmlformats.org/officeDocument/2006/relationships" id="260" r:id="R9d2ee8e88e074e66"/>
    <p:sldId xmlns:r="http://schemas.openxmlformats.org/officeDocument/2006/relationships" id="261" r:id="Rda2dc8aeb83e46b4"/>
    <p:sldId xmlns:r="http://schemas.openxmlformats.org/officeDocument/2006/relationships" id="262" r:id="R09f1227c0ee34c50"/>
    <p:sldId xmlns:r="http://schemas.openxmlformats.org/officeDocument/2006/relationships" id="263" r:id="R4e6b0a9a043f46d0"/>
    <p:sldId xmlns:r="http://schemas.openxmlformats.org/officeDocument/2006/relationships" id="264" r:id="Rfe003c15e5d04d5a"/>
    <p:sldId xmlns:r="http://schemas.openxmlformats.org/officeDocument/2006/relationships" id="265" r:id="R6b1543e7d84743a8"/>
    <p:sldId xmlns:r="http://schemas.openxmlformats.org/officeDocument/2006/relationships" id="266" r:id="R442eb55edbde4d40"/>
    <p:sldId xmlns:r="http://schemas.openxmlformats.org/officeDocument/2006/relationships" id="267" r:id="R8aaf9afd25cd4a90"/>
    <p:sldId xmlns:r="http://schemas.openxmlformats.org/officeDocument/2006/relationships" id="268" r:id="R3faf23d7f0814f2e"/>
    <p:sldId xmlns:r="http://schemas.openxmlformats.org/officeDocument/2006/relationships" id="269" r:id="R07a3b93cddb1466f"/>
    <p:sldId xmlns:r="http://schemas.openxmlformats.org/officeDocument/2006/relationships" id="270" r:id="R4a31e97499c04c68"/>
    <p:sldId xmlns:r="http://schemas.openxmlformats.org/officeDocument/2006/relationships" id="271" r:id="R3bbe8d7a10a1415f"/>
    <p:sldId xmlns:r="http://schemas.openxmlformats.org/officeDocument/2006/relationships" id="272" r:id="Rab202a21eefe45ae"/>
    <p:sldId xmlns:r="http://schemas.openxmlformats.org/officeDocument/2006/relationships" id="273" r:id="Rae8149bcd3b04a64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8f691189404c02" /><Relationship Type="http://schemas.openxmlformats.org/officeDocument/2006/relationships/slideMaster" Target="/ppt/slideMasters/slideMaster1.xml" Id="Rc85717392be249a9" /><Relationship Type="http://schemas.openxmlformats.org/officeDocument/2006/relationships/notesMaster" Target="/ppt/notesMasters/notesMaster1.xml" Id="R0a1a5e693ae240c6" /><Relationship Type="http://schemas.openxmlformats.org/officeDocument/2006/relationships/presProps" Target="/ppt/presProps.xml" Id="R033ef1c6630b499f" /><Relationship Type="http://schemas.openxmlformats.org/officeDocument/2006/relationships/viewProps" Target="/ppt/viewProps.xml" Id="R03f9710471194dd6" /><Relationship Type="http://schemas.openxmlformats.org/officeDocument/2006/relationships/tableStyles" Target="/ppt/tableStyles.xml" Id="R1df6cc72bc024eb3" /><Relationship Type="http://schemas.openxmlformats.org/officeDocument/2006/relationships/slide" Target="/ppt/slides/slide1.xml" Id="Rb71fa962a3444ce9" /><Relationship Type="http://schemas.openxmlformats.org/officeDocument/2006/relationships/slide" Target="/ppt/slides/slide2.xml" Id="Rab9496b507654471" /><Relationship Type="http://schemas.openxmlformats.org/officeDocument/2006/relationships/slide" Target="/ppt/slides/slide3.xml" Id="Rcb78d02028d84aaf" /><Relationship Type="http://schemas.openxmlformats.org/officeDocument/2006/relationships/slide" Target="/ppt/slides/slide4.xml" Id="R843d00aa93574060" /><Relationship Type="http://schemas.openxmlformats.org/officeDocument/2006/relationships/slide" Target="/ppt/slides/slide5.xml" Id="R9d2ee8e88e074e66" /><Relationship Type="http://schemas.openxmlformats.org/officeDocument/2006/relationships/slide" Target="/ppt/slides/slide6.xml" Id="Rda2dc8aeb83e46b4" /><Relationship Type="http://schemas.openxmlformats.org/officeDocument/2006/relationships/slide" Target="/ppt/slides/slide7.xml" Id="R09f1227c0ee34c50" /><Relationship Type="http://schemas.openxmlformats.org/officeDocument/2006/relationships/slide" Target="/ppt/slides/slide8.xml" Id="R4e6b0a9a043f46d0" /><Relationship Type="http://schemas.openxmlformats.org/officeDocument/2006/relationships/slide" Target="/ppt/slides/slide9.xml" Id="Rfe003c15e5d04d5a" /><Relationship Type="http://schemas.openxmlformats.org/officeDocument/2006/relationships/slide" Target="/ppt/slides/slide10.xml" Id="R6b1543e7d84743a8" /><Relationship Type="http://schemas.openxmlformats.org/officeDocument/2006/relationships/slide" Target="/ppt/slides/slide11.xml" Id="R442eb55edbde4d40" /><Relationship Type="http://schemas.openxmlformats.org/officeDocument/2006/relationships/slide" Target="/ppt/slides/slide12.xml" Id="R8aaf9afd25cd4a90" /><Relationship Type="http://schemas.openxmlformats.org/officeDocument/2006/relationships/slide" Target="/ppt/slides/slide13.xml" Id="R3faf23d7f0814f2e" /><Relationship Type="http://schemas.openxmlformats.org/officeDocument/2006/relationships/slide" Target="/ppt/slides/slide14.xml" Id="R07a3b93cddb1466f" /><Relationship Type="http://schemas.openxmlformats.org/officeDocument/2006/relationships/slide" Target="/ppt/slides/slide15.xml" Id="R4a31e97499c04c68" /><Relationship Type="http://schemas.openxmlformats.org/officeDocument/2006/relationships/slide" Target="/ppt/slides/slide16.xml" Id="R3bbe8d7a10a1415f" /><Relationship Type="http://schemas.openxmlformats.org/officeDocument/2006/relationships/slide" Target="/ppt/slides/slide17.xml" Id="Rab202a21eefe45ae" /><Relationship Type="http://schemas.openxmlformats.org/officeDocument/2006/relationships/slide" Target="/ppt/slides/slide18.xml" Id="Rae8149bcd3b04a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f929b8488a48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0ff9744d6b4597" /><Relationship Type="http://schemas.openxmlformats.org/officeDocument/2006/relationships/notesMaster" Target="/ppt/notesMasters/notesMaster1.xml" Id="R545a1a8963ad4e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e3dc865f5a43d3" /><Relationship Type="http://schemas.openxmlformats.org/officeDocument/2006/relationships/notesMaster" Target="/ppt/notesMasters/notesMaster1.xml" Id="Rc0eb29cd32d54e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ee4e18ef564357" /><Relationship Type="http://schemas.openxmlformats.org/officeDocument/2006/relationships/notesMaster" Target="/ppt/notesMasters/notesMaster1.xml" Id="Rbdfb9e21f5f04d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01bf52e16e4f1c" /><Relationship Type="http://schemas.openxmlformats.org/officeDocument/2006/relationships/notesMaster" Target="/ppt/notesMasters/notesMaster1.xml" Id="R52de9de9e56345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9a5686083e405e" /><Relationship Type="http://schemas.openxmlformats.org/officeDocument/2006/relationships/notesMaster" Target="/ppt/notesMasters/notesMaster1.xml" Id="Rd36d3363b05b41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06e6a0282b4c75" /><Relationship Type="http://schemas.openxmlformats.org/officeDocument/2006/relationships/notesMaster" Target="/ppt/notesMasters/notesMaster1.xml" Id="R3f1976ecd19c4b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68f17b9b52423c" /><Relationship Type="http://schemas.openxmlformats.org/officeDocument/2006/relationships/notesMaster" Target="/ppt/notesMasters/notesMaster1.xml" Id="Rd09c125975c84a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755320d67e4d60" /><Relationship Type="http://schemas.openxmlformats.org/officeDocument/2006/relationships/notesMaster" Target="/ppt/notesMasters/notesMaster1.xml" Id="Redef86b095db41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e38e11b34c45d0" /><Relationship Type="http://schemas.openxmlformats.org/officeDocument/2006/relationships/notesMaster" Target="/ppt/notesMasters/notesMaster1.xml" Id="R18fc59ab62d843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88089f286d448d" /><Relationship Type="http://schemas.openxmlformats.org/officeDocument/2006/relationships/notesMaster" Target="/ppt/notesMasters/notesMaster1.xml" Id="R62a7f8dabdf042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8b83cc59d94ed8" /><Relationship Type="http://schemas.openxmlformats.org/officeDocument/2006/relationships/notesMaster" Target="/ppt/notesMasters/notesMaster1.xml" Id="Rc8a421a5a0cb45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3805123f644059" /><Relationship Type="http://schemas.openxmlformats.org/officeDocument/2006/relationships/notesMaster" Target="/ppt/notesMasters/notesMaster1.xml" Id="R3b3c3652661e47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d24f249d6d4112" /><Relationship Type="http://schemas.openxmlformats.org/officeDocument/2006/relationships/notesMaster" Target="/ppt/notesMasters/notesMaster1.xml" Id="R8dc73f83bbbb4a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a20d97270074279" /><Relationship Type="http://schemas.openxmlformats.org/officeDocument/2006/relationships/notesMaster" Target="/ppt/notesMasters/notesMaster1.xml" Id="R22d769d2711a40e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63a530b4fc407a" /><Relationship Type="http://schemas.openxmlformats.org/officeDocument/2006/relationships/notesMaster" Target="/ppt/notesMasters/notesMaster1.xml" Id="R6b3d94e803234cc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f6c6d1377945f9" /><Relationship Type="http://schemas.openxmlformats.org/officeDocument/2006/relationships/notesMaster" Target="/ppt/notesMasters/notesMaster1.xml" Id="R5c3e91c53526440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57bb9ab0f74fea" /><Relationship Type="http://schemas.openxmlformats.org/officeDocument/2006/relationships/notesMaster" Target="/ppt/notesMasters/notesMaster1.xml" Id="Rd7594a7939924a1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8b774d1e704710" /><Relationship Type="http://schemas.openxmlformats.org/officeDocument/2006/relationships/notesMaster" Target="/ppt/notesMasters/notesMaster1.xml" Id="Rf6ae7273fde841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Competition/solution/docs/finals/spatial/quality/candidate/summary.json</a:t>
            </a:r>
          </a:p>
          <a:p xmlns:a="http://schemas.openxmlformats.org/drawingml/2006/main">
            <a:r>
              <a:t>https://github.com/EhimenNathan/tunnelguard-lct2026/actions/runs/39197603363</a:t>
            </a:r>
          </a:p>
          <a:p xmlns:a="http://schemas.openxmlformats.org/drawingml/2006/main">
            <a:r>
              <a:t>Автоматическая траектория, 4443 кадра. 256,56 м при t=4,5 с. Одна цель; не гарантированная дальность любого объекта.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Competition/solution/src/tunnel_guard/tunnel_guard/core/detector.py</a:t>
            </a:r>
          </a:p>
          <a:p xmlns:a="http://schemas.openxmlformats.org/drawingml/2006/main">
            <a:r>
              <a:t>C:/Users/ehime/Desktop/Moscow Competition/solution/docs/MODEL_RU.md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Competition/solution/docs/finals/spatial/quality/spatial_gates.json</a:t>
            </a:r>
          </a:p>
          <a:p xmlns:a="http://schemas.openxmlformats.org/drawingml/2006/main">
            <a:r>
              <a:t>C:/Users/ehime/Desktop/Moscow Competition/solution/docs/finals/spatial/stop_gaps.json</a:t>
            </a:r>
          </a:p>
          <a:p xmlns:a="http://schemas.openxmlformats.org/drawingml/2006/main">
            <a:r>
              <a:t>14/14 заранее заданных условий. Два изменения вместе; не изолированная абляция. Реальные FP/FN без независимого полного эталона неизвестны.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Competition/solution/docs/data_sources.json</a:t>
            </a:r>
          </a:p>
          <a:p xmlns:a="http://schemas.openxmlformats.org/drawingml/2006/main">
            <a:r>
              <a:t>C:/Users/ehime/Desktop/Moscow Competition/solution/docs/finals/spatial/dense/qualification/summary.json</a:t>
            </a:r>
          </a:p>
          <a:p xmlns:a="http://schemas.openxmlformats.org/drawingml/2006/main">
            <a:r>
              <a:t>Организаторы предоставили 20.10 маркеры и obstacles.md; это отдельный новый источник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Competition/solution/docs/finals/spatial/dense/</a:t>
            </a:r>
          </a:p>
          <a:p xmlns:a="http://schemas.openxmlformats.org/drawingml/2006/main">
            <a:r>
              <a:t>https://github.com/EhimenNathan/tunnelguard-lct2026/actions/runs/39200634492</a:t>
            </a:r>
          </a:p>
          <a:p xmlns:a="http://schemas.openxmlformats.org/drawingml/2006/main">
            <a:r>
              <a:t>4 vCPU AMD EPYC 7763, Linux amd64. p99 интервала выше 100мс; hard real time не доказан.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Competition/solution/web/data/finals_ladder.json</a:t>
            </a:r>
          </a:p>
          <a:p xmlns:a="http://schemas.openxmlformats.org/drawingml/2006/main">
            <a:r>
              <a:t>30 кадров прогрева и 50 оцениваемых кадров, один seed на дальность. Сопоставление по продольной дистанции ±4м. Прежний person — прямоугольный прокси 0.5×0.3×1.75м; не анатомическая модель.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Competition/solution/tools/human_anatomy_inject.py</a:t>
            </a:r>
          </a:p>
          <a:p xmlns:a="http://schemas.openxmlformats.org/drawingml/2006/main">
            <a:r>
              <a:t>C:/Users/ehime/Desktop/Moscow Competition/solution/tools/finals_human_anatomy_eval.py</a:t>
            </a:r>
          </a:p>
          <a:p xmlns:a="http://schemas.openxmlformats.org/drawingml/2006/main">
            <a:r>
              <a:t>Новый диагностический протокол, Windows NumPy/Numba. 51 условие завершено: 30 прогрева +50 оцениваемых, один seed на дальность. Сопоставление по дальности±4м и боковой координате&lt;0.8м. Вне пути0/1700; человек300м8/50предупреждений,0/50СТОП.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https://disk.yandex.ru/d/SfBeRHbs8bNJAQ</a:t>
            </a:r>
          </a:p>
          <a:p xmlns:a="http://schemas.openxmlformats.org/drawingml/2006/main">
            <a:r>
              <a:t>obstacles.md, SHA-256 db62201d049da4f16063abceab8a918f7091335e41a093fcb9211863df687558</a:t>
            </a:r>
          </a:p>
          <a:p xmlns:a="http://schemas.openxmlformats.org/drawingml/2006/main">
            <a:r>
              <a:t>marker-eval 39342143068, все1667кадров. 32135записеймаркеровADD/DELETE. Маркеры не содержат текстовых классов.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Competition/solution/docs/finals/spatial/quality/holdout/holdout.json</a:t>
            </a:r>
          </a:p>
          <a:p xmlns:a="http://schemas.openxmlformats.org/drawingml/2006/main">
            <a:r>
              <a:t>Пылевая инъекция: нежелательный СТОП в ±4м по дальности. Человек вне пути: продольная±4м и боковая&lt;0.8м. Счётчики относятся к известной инъекции, не ко всем неизвестным фоновым объектам.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Competition/solution/docs/finals/spatial/wire_regression.json</a:t>
            </a:r>
          </a:p>
          <a:p xmlns:a="http://schemas.openxmlformats.org/drawingml/2006/main">
            <a:r>
              <a:t>C:/Users/ehime/Desktop/Moscow Competition/solution/docs/SPATIAL_REVIEW_20261019_RU.md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Competition/solution/docs/SPATIAL_REVIEW_20261019_RU.md</a:t>
            </a:r>
          </a:p>
          <a:p xmlns:a="http://schemas.openxmlformats.org/drawingml/2006/main">
            <a:r>
              <a:t>C:/Users/ehime/Desktop/Moscow Competition/solution/docs/finals/spatial/moving_curves.json</a:t>
            </a:r>
          </a:p>
          <a:p xmlns:a="http://schemas.openxmlformats.org/drawingml/2006/main">
            <a:r>
              <a:t>Синтетическая движущаяся платформа5м/с, цель~120м,30warm+50scored. Прямая/±80050/50,±50039/50и36/50детекций.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C:/Users/ehime/Desktop/Moscow Competition/solution/docs/RUN_ON_PC_RU.md</a:t>
            </a:r>
          </a:p>
          <a:p xmlns:a="http://schemas.openxmlformats.org/drawingml/2006/main">
            <a:r>
              <a:t>C:/Users/ehime/Desktop/Moscow Competition/solution/compose.repro.yaml</a:t>
            </a:r>
          </a:p>
          <a:p xmlns:a="http://schemas.openxmlformats.org/drawingml/2006/main">
            <a:r>
              <a:t>https://github.com/EhimenNathan/tunnelguard-lct2026/actions/runs/39341798129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https://ehimennathan.github.io/tunnelguard-lct2026/</a:t>
            </a:r>
          </a:p>
          <a:p xmlns:a="http://schemas.openxmlformats.org/drawingml/2006/main">
            <a:r>
              <a:t>https://github.com/EhimenNathan/tunnelguard-lct2026</a:t>
            </a:r>
          </a:p>
          <a:p xmlns:a="http://schemas.openxmlformats.org/drawingml/2006/main">
            <a:r>
              <a:t>Полное видео7:20: реальныйFalcon,квалификация,триорганизаторскиесцены,68инъекций. Все показанные сканы1×.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e72b212614a44" /><Relationship Type="http://schemas.openxmlformats.org/officeDocument/2006/relationships/image" Target="/ppt/media/image2.png" Id="Rc8f9d4e1f3ab43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b7b7656c524a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68e415867846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e07457f0284b4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5b68f1e294d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75f711aa50419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e72814398e4bc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4acefa3b5c403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f63aed281c4d6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7f66ff592485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4ead3f105247b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5a9f1deed84a1b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84b6abf2b040d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615d80de9436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913adb74846f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c93224b6cf4923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e0da9ad8014b43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758555edb4447f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44c4e4e2d414d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34a70550184914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b997281d64bb7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6fa82e17c4b5b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9b74e7074f4432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c8f9d4e1f3ab438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6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5C12F10F-5A63-4F22-BE0F-31F2E649E27B}"/>
              </a:ext>
            </a:extLst>
          </p:cNvPr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E6063613-DD34-4177-B2F2-9C0533747C8A}"/>
              </a:ext>
            </a:extLst>
          </p:cNvPr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3C779518-4A7E-4BAE-B5F9-25C2FFA1D146}"/>
              </a:ext>
            </a:extLst>
          </p:cNvPr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F7626E53-6996-4580-B267-41CC9E612CC9}"/>
              </a:ext>
            </a:extLst>
          </p:cNvPr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9c34bac7f3c74ac7" /><Relationship Type="http://schemas.openxmlformats.org/officeDocument/2006/relationships/theme" Target="/ppt/slideMasters/theme/theme2.xml" Id="R0ee1a63b3a7845f5" /><Relationship Type="http://schemas.openxmlformats.org/officeDocument/2006/relationships/slideLayout" Target="/ppt/slideLayouts/slideLayout1.xml" Id="R4af106f3a0794977" /><Relationship Type="http://schemas.openxmlformats.org/officeDocument/2006/relationships/slideLayout" Target="/ppt/slideLayouts/slideLayout2.xml" Id="Rdbfb0c1e6cb2402d" /><Relationship Type="http://schemas.openxmlformats.org/officeDocument/2006/relationships/slideLayout" Target="/ppt/slideLayouts/slideLayout3.xml" Id="Rc0ea9ca6d09e42ba" /><Relationship Type="http://schemas.openxmlformats.org/officeDocument/2006/relationships/slideLayout" Target="/ppt/slideLayouts/slideLayout4.xml" Id="R031fa246081f4c09" /><Relationship Type="http://schemas.openxmlformats.org/officeDocument/2006/relationships/slideLayout" Target="/ppt/slideLayouts/slideLayout5.xml" Id="R228846e1ff8e4d7c" /><Relationship Type="http://schemas.openxmlformats.org/officeDocument/2006/relationships/slideLayout" Target="/ppt/slideLayouts/slideLayout6.xml" Id="Rdc4aa851335e4ac5" /><Relationship Type="http://schemas.openxmlformats.org/officeDocument/2006/relationships/slideLayout" Target="/ppt/slideLayouts/slideLayout7.xml" Id="R40238fa9b5884fbd" /><Relationship Type="http://schemas.openxmlformats.org/officeDocument/2006/relationships/slideLayout" Target="/ppt/slideLayouts/slideLayout8.xml" Id="R8e9fe10ddce049b7" /><Relationship Type="http://schemas.openxmlformats.org/officeDocument/2006/relationships/slideLayout" Target="/ppt/slideLayouts/slideLayout9.xml" Id="Re9a91cdbfab540fd" /><Relationship Type="http://schemas.openxmlformats.org/officeDocument/2006/relationships/slideLayout" Target="/ppt/slideLayouts/slideLayout10.xml" Id="Rbbbe76098d8a4ea3" /><Relationship Type="http://schemas.openxmlformats.org/officeDocument/2006/relationships/slideLayout" Target="/ppt/slideLayouts/slideLayout11.xml" Id="Rff619895069f470e" /><Relationship Type="http://schemas.openxmlformats.org/officeDocument/2006/relationships/slideLayout" Target="/ppt/slideLayouts/slideLayout12.xml" Id="Ra6a4a2c10cd24b18" /><Relationship Type="http://schemas.openxmlformats.org/officeDocument/2006/relationships/slideLayout" Target="/ppt/slideLayouts/slideLayout13.xml" Id="R1b0762d2fa484b9c" /><Relationship Type="http://schemas.openxmlformats.org/officeDocument/2006/relationships/slideLayout" Target="/ppt/slideLayouts/slideLayout14.xml" Id="Rafbe160b384a4e8a" /><Relationship Type="http://schemas.openxmlformats.org/officeDocument/2006/relationships/slideLayout" Target="/ppt/slideLayouts/slideLayout15.xml" Id="R07dfaab626974018" /><Relationship Type="http://schemas.openxmlformats.org/officeDocument/2006/relationships/slideLayout" Target="/ppt/slideLayouts/slideLayout16.xml" Id="Rfd3a06e31ab8456f" /><Relationship Type="http://schemas.openxmlformats.org/officeDocument/2006/relationships/slideLayout" Target="/ppt/slideLayouts/slideLayout17.xml" Id="R3952b9ea2d404596" /><Relationship Type="http://schemas.openxmlformats.org/officeDocument/2006/relationships/slideLayout" Target="/ppt/slideLayouts/slideLayout18.xml" Id="R1dcaf80a86f946b5" /><Relationship Type="http://schemas.openxmlformats.org/officeDocument/2006/relationships/slideLayout" Target="/ppt/slideLayouts/slideLayout19.xml" Id="R7c4f3484c8b3472f" /><Relationship Type="http://schemas.openxmlformats.org/officeDocument/2006/relationships/slideLayout" Target="/ppt/slideLayouts/slideLayout20.xml" Id="R5c1b1b33e71f420b" /><Relationship Type="http://schemas.openxmlformats.org/officeDocument/2006/relationships/slideLayout" Target="/ppt/slideLayouts/slideLayout21.xml" Id="R6be91c11cbd2463c" /><Relationship Type="http://schemas.openxmlformats.org/officeDocument/2006/relationships/slideLayout" Target="/ppt/slideLayouts/slideLayout22.xml" Id="Rb2be76a440cf4cb7" /><Relationship Type="http://schemas.openxmlformats.org/officeDocument/2006/relationships/slideLayout" Target="/ppt/slideLayouts/slideLayout23.xml" Id="Rf2bca83264c24f3c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c34bac7f3c74ac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f106f3a0794977"/>
    <p:sldLayoutId xmlns:r="http://schemas.openxmlformats.org/officeDocument/2006/relationships" id="2147483650" r:id="Rdbfb0c1e6cb2402d"/>
    <p:sldLayoutId xmlns:r="http://schemas.openxmlformats.org/officeDocument/2006/relationships" id="2147483651" r:id="Rc0ea9ca6d09e42ba"/>
    <p:sldLayoutId xmlns:r="http://schemas.openxmlformats.org/officeDocument/2006/relationships" id="2147483652" r:id="R031fa246081f4c09"/>
    <p:sldLayoutId xmlns:r="http://schemas.openxmlformats.org/officeDocument/2006/relationships" id="2147483653" r:id="R228846e1ff8e4d7c"/>
    <p:sldLayoutId xmlns:r="http://schemas.openxmlformats.org/officeDocument/2006/relationships" id="2147483654" r:id="Rdc4aa851335e4ac5"/>
    <p:sldLayoutId xmlns:r="http://schemas.openxmlformats.org/officeDocument/2006/relationships" id="2147483655" r:id="R40238fa9b5884fbd"/>
    <p:sldLayoutId xmlns:r="http://schemas.openxmlformats.org/officeDocument/2006/relationships" id="2147483656" r:id="R8e9fe10ddce049b7"/>
    <p:sldLayoutId xmlns:r="http://schemas.openxmlformats.org/officeDocument/2006/relationships" id="2147483657" r:id="Re9a91cdbfab540fd"/>
    <p:sldLayoutId xmlns:r="http://schemas.openxmlformats.org/officeDocument/2006/relationships" id="2147483658" r:id="Rbbbe76098d8a4ea3"/>
    <p:sldLayoutId xmlns:r="http://schemas.openxmlformats.org/officeDocument/2006/relationships" id="2147483659" r:id="Rff619895069f470e"/>
    <p:sldLayoutId xmlns:r="http://schemas.openxmlformats.org/officeDocument/2006/relationships" id="2147483660" r:id="Ra6a4a2c10cd24b18"/>
    <p:sldLayoutId xmlns:r="http://schemas.openxmlformats.org/officeDocument/2006/relationships" id="2147483661" r:id="R1b0762d2fa484b9c"/>
    <p:sldLayoutId xmlns:r="http://schemas.openxmlformats.org/officeDocument/2006/relationships" id="2147483662" r:id="Rafbe160b384a4e8a"/>
    <p:sldLayoutId xmlns:r="http://schemas.openxmlformats.org/officeDocument/2006/relationships" id="2147483663" r:id="R07dfaab626974018"/>
    <p:sldLayoutId xmlns:r="http://schemas.openxmlformats.org/officeDocument/2006/relationships" id="2147483664" r:id="Rfd3a06e31ab8456f"/>
    <p:sldLayoutId xmlns:r="http://schemas.openxmlformats.org/officeDocument/2006/relationships" id="2147483665" r:id="R3952b9ea2d404596"/>
    <p:sldLayoutId xmlns:r="http://schemas.openxmlformats.org/officeDocument/2006/relationships" id="2147483666" r:id="R1dcaf80a86f946b5"/>
    <p:sldLayoutId xmlns:r="http://schemas.openxmlformats.org/officeDocument/2006/relationships" id="2147483667" r:id="R7c4f3484c8b3472f"/>
    <p:sldLayoutId xmlns:r="http://schemas.openxmlformats.org/officeDocument/2006/relationships" id="2147483668" r:id="R5c1b1b33e71f420b"/>
    <p:sldLayoutId xmlns:r="http://schemas.openxmlformats.org/officeDocument/2006/relationships" id="2147483669" r:id="R6be91c11cbd2463c"/>
    <p:sldLayoutId xmlns:r="http://schemas.openxmlformats.org/officeDocument/2006/relationships" id="2147483670" r:id="Rb2be76a440cf4cb7"/>
    <p:sldLayoutId xmlns:r="http://schemas.openxmlformats.org/officeDocument/2006/relationships" id="2147483671" r:id="Rf2bca83264c24f3c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794b3bbab4720" /><Relationship Type="http://schemas.openxmlformats.org/officeDocument/2006/relationships/image" Target="/ppt/media/image3.png" Id="Raa0253573a214842" /><Relationship Type="http://schemas.openxmlformats.org/officeDocument/2006/relationships/notesSlide" Target="/ppt/notesSlides/notesSlide1.xml" Id="R04698d7b6dc240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699b638a5e4d06" /><Relationship Type="http://schemas.openxmlformats.org/officeDocument/2006/relationships/image" Target="/ppt/media/image4.png" Id="Rac89c780b5954b97" /><Relationship Type="http://schemas.openxmlformats.org/officeDocument/2006/relationships/image" Target="/ppt/media/image.jpeg" Id="R96500c14606041ae" /><Relationship Type="http://schemas.openxmlformats.org/officeDocument/2006/relationships/notesSlide" Target="/ppt/notesSlides/notesSlide2.xml" Id="R3b6bd42003994f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44e581c6ad94fb0" /><Relationship Type="http://schemas.openxmlformats.org/officeDocument/2006/relationships/image" Target="/ppt/media/image.png" Id="R36c4dcee31eb407f" /><Relationship Type="http://schemas.openxmlformats.org/officeDocument/2006/relationships/image" Target="/ppt/media/image2.jpeg" Id="R05abcfa2edf74ef6" /><Relationship Type="http://schemas.openxmlformats.org/officeDocument/2006/relationships/image" Target="/ppt/media/image3.jpeg" Id="R71eb54f4b43f408a" /><Relationship Type="http://schemas.openxmlformats.org/officeDocument/2006/relationships/image" Target="/ppt/media/image4.jpeg" Id="R445ed22015544c1b" /><Relationship Type="http://schemas.openxmlformats.org/officeDocument/2006/relationships/notesSlide" Target="/ppt/notesSlides/notesSlide3.xml" Id="Rc24048d68fed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5ec05ecee04c56" /><Relationship Type="http://schemas.openxmlformats.org/officeDocument/2006/relationships/image" Target="/ppt/media/image5.png" Id="R3dea368e464c4e80" /><Relationship Type="http://schemas.openxmlformats.org/officeDocument/2006/relationships/notesSlide" Target="/ppt/notesSlides/notesSlide4.xml" Id="Ra7cff3f7adbf45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cefa0845c0d4780" /><Relationship Type="http://schemas.openxmlformats.org/officeDocument/2006/relationships/image" Target="/ppt/media/image.png" Id="R9f4a938750ed4d7a" /><Relationship Type="http://schemas.openxmlformats.org/officeDocument/2006/relationships/notesSlide" Target="/ppt/notesSlides/notesSlide5.xml" Id="R5f3861fd3d5d4d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bc455e561af4c1f" /><Relationship Type="http://schemas.openxmlformats.org/officeDocument/2006/relationships/image" Target="/ppt/media/image6.png" Id="R03ebf714c6424efb" /><Relationship Type="http://schemas.openxmlformats.org/officeDocument/2006/relationships/notesSlide" Target="/ppt/notesSlides/notesSlide6.xml" Id="R97f08d4b996240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03d263267a44b27" /><Relationship Type="http://schemas.openxmlformats.org/officeDocument/2006/relationships/notesSlide" Target="/ppt/notesSlides/notesSlide7.xml" Id="R51a05a68b5bf41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17a86f310daa4225" /><Relationship Type="http://schemas.openxmlformats.org/officeDocument/2006/relationships/chart" Target="/ppt/slides/charts/chart1.xml" Id="R32f139c342674859" /><Relationship Type="http://schemas.openxmlformats.org/officeDocument/2006/relationships/notesSlide" Target="/ppt/notesSlides/notesSlide8.xml" Id="Rfde84ac802944a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ec8a8cce9cc64a9d" /><Relationship Type="http://schemas.openxmlformats.org/officeDocument/2006/relationships/notesSlide" Target="/ppt/notesSlides/notesSlide9.xml" Id="R81de728442394d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e9473ac3d59945f7" /><Relationship Type="http://schemas.openxmlformats.org/officeDocument/2006/relationships/notesSlide" Target="/ppt/notesSlides/notesSlide10.xml" Id="R3bd916d2ebce4c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e634414136164a5b" /><Relationship Type="http://schemas.openxmlformats.org/officeDocument/2006/relationships/chart" Target="/ppt/slides/charts/chart2.xml" Id="R516ea50f5cce42f6" /><Relationship Type="http://schemas.openxmlformats.org/officeDocument/2006/relationships/notesSlide" Target="/ppt/notesSlides/notesSlide11.xml" Id="Rc020d342c3fe4c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c44e3c179cee4fdd" /><Relationship Type="http://schemas.openxmlformats.org/officeDocument/2006/relationships/image" Target="/ppt/media/image7.png" Id="Rb2fec255ca3841a0" /><Relationship Type="http://schemas.openxmlformats.org/officeDocument/2006/relationships/notesSlide" Target="/ppt/notesSlides/notesSlide12.xml" Id="Re658947ce58f4a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60ac0ae2e574722" /><Relationship Type="http://schemas.openxmlformats.org/officeDocument/2006/relationships/notesSlide" Target="/ppt/notesSlides/notesSlide13.xml" Id="Rafeb1479aeff4bd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f8fe9b4e1484900" /><Relationship Type="http://schemas.openxmlformats.org/officeDocument/2006/relationships/notesSlide" Target="/ppt/notesSlides/notesSlide14.xml" Id="R67216333036f40a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329c2258f78d4558" /><Relationship Type="http://schemas.openxmlformats.org/officeDocument/2006/relationships/notesSlide" Target="/ppt/notesSlides/notesSlide15.xml" Id="R3ba84ba244fe402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34deddfa469d4f4c" /><Relationship Type="http://schemas.openxmlformats.org/officeDocument/2006/relationships/notesSlide" Target="/ppt/notesSlides/notesSlide16.xml" Id="R217e943a1e514e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6c32995a0c043d8" /><Relationship Type="http://schemas.openxmlformats.org/officeDocument/2006/relationships/notesSlide" Target="/ppt/notesSlides/notesSlide17.xml" Id="R36b4169d652a41a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0446571f5874757" /><Relationship Type="http://schemas.openxmlformats.org/officeDocument/2006/relationships/hyperlink" Target="https://ehimennathan.github.io/tunnelguard-lct2026/#film" TargetMode="External" Id="Red698ccf7d3f46a7" /><Relationship Type="http://schemas.openxmlformats.org/officeDocument/2006/relationships/hyperlink" Target="https://github.com/EhimenNathan/tunnelguard-lct2026" TargetMode="External" Id="R24e114ab5f704b1f" /><Relationship Type="http://schemas.openxmlformats.org/officeDocument/2006/relationships/hyperlink" Target="https://ehimennathan.github.io/tunnelguard-lct2026/qualification.html" TargetMode="External" Id="R374bb61d4f6e43ca" /><Relationship Type="http://schemas.openxmlformats.org/officeDocument/2006/relationships/notesSlide" Target="/ppt/notesSlides/notesSlide18.xml" Id="R1272264ec80e4c2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До</c:v>
          </c:tx>
          <c:spPr>
            <a:solidFill xmlns:a="http://schemas.openxmlformats.org/drawingml/2006/main">
              <a:srgbClr val="7791A8"/>
            </a:solidFill>
          </c:spPr>
          <c:invertIfNegative val="0"/>
          <c:cat>
            <c:strRef>
              <c:f>'Chart Data'!$A$2:$A$2</c:f>
              <c:strCache>
                <c:ptCount val="1"/>
                <c:pt idx="0">
                  <c:v>СТОП на 200–250 м</c:v>
                </c:pt>
              </c:strCache>
            </c:strRef>
          </c:cat>
          <c:val>
            <c:numRef>
              <c:f>'Chart Data'!$B$2:$B$2</c:f>
              <c:numCache>
                <c:formatCode>General</c:formatCode>
                <c:ptCount val="1"/>
                <c:pt idx="0">
                  <c:v>705</c:v>
                </c:pt>
              </c:numCache>
            </c:numRef>
          </c:val>
        </c:ser>
        <c:ser>
          <c:idx val="1"/>
          <c:order val="1"/>
          <c:tx>
            <c:v>После</c:v>
          </c:tx>
          <c:spPr>
            <a:solidFill xmlns:a="http://schemas.openxmlformats.org/drawingml/2006/main">
              <a:srgbClr val="43DCC4"/>
            </a:solidFill>
          </c:spPr>
          <c:invertIfNegative val="0"/>
          <c:cat>
            <c:strRef>
              <c:f>'Chart Data'!$C$2:$C$2</c:f>
              <c:strCache>
                <c:ptCount val="1"/>
                <c:pt idx="0">
                  <c:v>СТОП на 200–250 м</c:v>
                </c:pt>
              </c:strCache>
            </c:strRef>
          </c:cat>
          <c:val>
            <c:numRef>
              <c:f>'Chart Data'!$D$2:$D$2</c:f>
              <c:numCache>
                <c:formatCode>General</c:formatCode>
                <c:ptCount val="1"/>
                <c:pt idx="0">
                  <c:v>718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F1F6FC"/>
                  </a:solidFill>
                  <a:latin typeface="Montserrat"/>
                  <a:ea typeface="Montserrat"/>
                  <a:cs typeface="Montserrat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72768"/>
      </c:catAx>
      <c:valAx>
        <c:axId val="48672768"/>
        <c:scaling>
          <c:orientation val="minMax"/>
          <c:max val="75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9172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F1F6FC"/>
              </a:solidFill>
              <a:latin typeface="Montserrat"/>
              <a:ea typeface="Montserrat"/>
              <a:cs typeface="Montserrat"/>
            </a:defRPr>
          </a:pPr>
        </a:p>
      </c:txPr>
    </c:legend>
    <c:plotVisOnly val="1"/>
  </c:chart>
  <c:spPr>
    <a:solidFill xmlns:a="http://schemas.openxmlformats.org/drawingml/2006/main">
      <a:srgbClr val="09172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Обнаружение</c:v>
          </c:tx>
          <c:spPr>
            <a:solidFill xmlns:a="http://schemas.openxmlformats.org/drawingml/2006/main">
              <a:srgbClr val="43DCC4"/>
            </a:solidFill>
          </c:spPr>
          <c:marker>
            <c:symbol val="none"/>
          </c:marker>
          <c:cat>
            <c:numRef>
              <c:f>'Chart Data'!$A$2:$A$18</c:f>
              <c:numCache>
                <c:formatCode>General</c:formatCode>
                <c:ptCount val="17"/>
                <c:pt idx="0">
                  <c:v>60</c:v>
                </c:pt>
                <c:pt idx="1">
                  <c:v>90</c:v>
                </c:pt>
                <c:pt idx="2">
                  <c:v>100</c:v>
                </c:pt>
                <c:pt idx="3">
                  <c:v>120</c:v>
                </c:pt>
                <c:pt idx="4">
                  <c:v>150</c:v>
                </c:pt>
                <c:pt idx="5">
                  <c:v>175</c:v>
                </c:pt>
                <c:pt idx="6">
                  <c:v>180</c:v>
                </c:pt>
                <c:pt idx="7">
                  <c:v>190</c:v>
                </c:pt>
                <c:pt idx="8">
                  <c:v>200</c:v>
                </c:pt>
                <c:pt idx="9">
                  <c:v>215</c:v>
                </c:pt>
                <c:pt idx="10">
                  <c:v>220</c:v>
                </c:pt>
                <c:pt idx="11">
                  <c:v>230</c:v>
                </c:pt>
                <c:pt idx="12">
                  <c:v>250</c:v>
                </c:pt>
                <c:pt idx="13">
                  <c:v>260</c:v>
                </c:pt>
                <c:pt idx="14">
                  <c:v>270</c:v>
                </c:pt>
                <c:pt idx="15">
                  <c:v>280</c:v>
                </c:pt>
                <c:pt idx="16">
                  <c:v>300</c:v>
                </c:pt>
              </c:numCache>
            </c:numRef>
          </c:cat>
          <c:val>
            <c:numRef>
              <c:f>'Chart Data'!$B$2:$B$18</c:f>
              <c:numCache>
                <c:formatCode>General</c:formatCode>
                <c:ptCount val="17"/>
                <c:pt idx="0">
                  <c:v>96</c:v>
                </c:pt>
                <c:pt idx="1">
                  <c:v>96</c:v>
                </c:pt>
                <c:pt idx="2">
                  <c:v>96</c:v>
                </c:pt>
                <c:pt idx="3">
                  <c:v>96</c:v>
                </c:pt>
                <c:pt idx="4">
                  <c:v>90</c:v>
                </c:pt>
                <c:pt idx="5">
                  <c:v>88</c:v>
                </c:pt>
                <c:pt idx="6">
                  <c:v>92</c:v>
                </c:pt>
                <c:pt idx="7">
                  <c:v>94</c:v>
                </c:pt>
                <c:pt idx="8">
                  <c:v>92</c:v>
                </c:pt>
                <c:pt idx="9">
                  <c:v>90</c:v>
                </c:pt>
                <c:pt idx="10">
                  <c:v>90</c:v>
                </c:pt>
                <c:pt idx="11">
                  <c:v>80</c:v>
                </c:pt>
                <c:pt idx="12">
                  <c:v>94</c:v>
                </c:pt>
                <c:pt idx="13">
                  <c:v>86</c:v>
                </c:pt>
                <c:pt idx="14">
                  <c:v>94</c:v>
                </c:pt>
                <c:pt idx="15">
                  <c:v>78</c:v>
                </c:pt>
                <c:pt idx="16">
                  <c:v>64</c:v>
                </c:pt>
              </c:numCache>
            </c:numRef>
          </c:val>
          <c:smooth val="0"/>
        </c:ser>
        <c:ser>
          <c:idx val="1"/>
          <c:order val="1"/>
          <c:tx>
            <c:v>СТОП</c:v>
          </c:tx>
          <c:spPr>
            <a:solidFill xmlns:a="http://schemas.openxmlformats.org/drawingml/2006/main">
              <a:srgbClr val="F8C76C"/>
            </a:solidFill>
          </c:spPr>
          <c:marker>
            <c:symbol val="none"/>
          </c:marker>
          <c:cat>
            <c:numRef>
              <c:f>'Chart Data'!$C$2:$C$18</c:f>
              <c:numCache>
                <c:formatCode>General</c:formatCode>
                <c:ptCount val="17"/>
                <c:pt idx="0">
                  <c:v>60</c:v>
                </c:pt>
                <c:pt idx="1">
                  <c:v>90</c:v>
                </c:pt>
                <c:pt idx="2">
                  <c:v>100</c:v>
                </c:pt>
                <c:pt idx="3">
                  <c:v>120</c:v>
                </c:pt>
                <c:pt idx="4">
                  <c:v>150</c:v>
                </c:pt>
                <c:pt idx="5">
                  <c:v>175</c:v>
                </c:pt>
                <c:pt idx="6">
                  <c:v>180</c:v>
                </c:pt>
                <c:pt idx="7">
                  <c:v>190</c:v>
                </c:pt>
                <c:pt idx="8">
                  <c:v>200</c:v>
                </c:pt>
                <c:pt idx="9">
                  <c:v>215</c:v>
                </c:pt>
                <c:pt idx="10">
                  <c:v>220</c:v>
                </c:pt>
                <c:pt idx="11">
                  <c:v>230</c:v>
                </c:pt>
                <c:pt idx="12">
                  <c:v>250</c:v>
                </c:pt>
                <c:pt idx="13">
                  <c:v>260</c:v>
                </c:pt>
                <c:pt idx="14">
                  <c:v>270</c:v>
                </c:pt>
                <c:pt idx="15">
                  <c:v>280</c:v>
                </c:pt>
                <c:pt idx="16">
                  <c:v>300</c:v>
                </c:pt>
              </c:numCache>
            </c:numRef>
          </c:cat>
          <c:val>
            <c:numRef>
              <c:f>'Chart Data'!$D$2:$D$18</c:f>
              <c:numCache>
                <c:formatCode>General</c:formatCode>
                <c:ptCount val="17"/>
                <c:pt idx="0">
                  <c:v>74</c:v>
                </c:pt>
                <c:pt idx="1">
                  <c:v>72</c:v>
                </c:pt>
                <c:pt idx="2">
                  <c:v>76</c:v>
                </c:pt>
                <c:pt idx="3">
                  <c:v>76</c:v>
                </c:pt>
                <c:pt idx="4">
                  <c:v>72</c:v>
                </c:pt>
                <c:pt idx="5">
                  <c:v>56</c:v>
                </c:pt>
                <c:pt idx="6">
                  <c:v>60</c:v>
                </c:pt>
                <c:pt idx="7">
                  <c:v>58</c:v>
                </c:pt>
                <c:pt idx="8">
                  <c:v>58</c:v>
                </c:pt>
                <c:pt idx="9">
                  <c:v>58</c:v>
                </c:pt>
                <c:pt idx="10">
                  <c:v>58</c:v>
                </c:pt>
                <c:pt idx="11">
                  <c:v>58</c:v>
                </c:pt>
                <c:pt idx="12">
                  <c:v>84</c:v>
                </c:pt>
                <c:pt idx="13">
                  <c:v>62</c:v>
                </c:pt>
                <c:pt idx="14">
                  <c:v>80</c:v>
                </c:pt>
                <c:pt idx="15">
                  <c:v>70</c:v>
                </c:pt>
                <c:pt idx="16">
                  <c:v>58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9172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F1F6FC"/>
              </a:solidFill>
              <a:latin typeface="Montserrat"/>
              <a:ea typeface="Montserrat"/>
              <a:cs typeface="Montserrat"/>
            </a:defRPr>
          </a:pPr>
        </a:p>
      </c:txPr>
    </c:legend>
    <c:plotVisOnly val="1"/>
  </c:chart>
  <c:spPr>
    <a:solidFill xmlns:a="http://schemas.openxmlformats.org/drawingml/2006/main">
      <a:srgbClr val="09172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</a:pPr>
            <a:r>
              <a:t>СахалИИн</a:t>
            </a:r>
            <a:endParaRPr sz="4800"/>
          </a:p>
        </p:txBody>
      </p:sp>
      <p:pic>
        <p:nvPic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A76A398-5F2B-4BF2-839C-567AEAE5DB0A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11"/>
          </p:nvPr>
        </p:nvPicPr>
        <p:blipFill>
          <a:blip xmlns:r="http://schemas.openxmlformats.org/officeDocument/2006/relationships" xmlns:a="http://schemas.openxmlformats.org/drawingml/2006/main" r:embed="Raa0253573a214842"/>
          <a:srcRect xmlns:a="http://schemas.openxmlformats.org/drawingml/2006/main" l="0" t="11871" r="0" b="11871"/>
          <a:stretch xmlns:a="http://schemas.openxmlformats.org/drawingml/2006/main">
            <a:fillRect l="0" t="0" r="0" b="0"/>
          </a:stretch>
        </p:blipFill>
        <p:spPr/>
      </p:pic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</a:pPr>
            <a:r>
              <a:t>TunnelGuard — обнаружение посторонних объектов в габарите беспилотного поезда метро по данным 3D-лидара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c89c780b5954b9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6E6BF15-DD72-420B-A21D-703F4BE1CCCE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96500c14606041ae"/>
          <a:srcRect xmlns:a="http://schemas.openxmlformats.org/drawingml/2006/main" l="31" t="0" r="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 sz="1100">
                <a:solidFill>
                  <a:srgbClr val="1C1D22"/>
                </a:solidFill>
              </a:rPr>
              <a:t>Восстанавливаем путь и габарит по облаку точек. Гибрид физики, ансамблей LightGBM/CatBoost и временного подтверждения обнаруживает посторонние объекты и передаёт СТОП / ВНИМАНИЕ в ROS 2.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</a:t>
            </a:r>
            <a:r>
              <a:rPr>
                <a:solidFill>
                  <a:schemeClr val="tx1"/>
                </a:solidFill>
              </a:rPr>
              <a:t>Каменев Александр Павлович, Data Scientist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</a:t>
            </a:r>
            <a:r>
              <a:rPr>
                <a:solidFill>
                  <a:schemeClr val="tx1"/>
                </a:solidFill>
              </a:rPr>
              <a:t>3 человека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 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Пришли из разных областей и познакомились в Sakhalin AI Center, где создаём сложные продукты компьютерного зрения и машинного обучения.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Место работы участников: Sakhalin AI Center.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</a:t>
            </a:r>
            <a:r>
              <a:rPr b="0">
                <a:solidFill>
                  <a:schemeClr val="tx1"/>
                </a:solidFill>
              </a:rPr>
              <a:t>Сахалинская область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520977"/>
                </a:solidFill>
              </a:rPr>
              <a:t>СахалИИн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10A7814-0D9B-4774-BFB3-24D716C5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E518FB54-F2CE-4D32-9B6E-D5C63257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EAA47CA2-1F56-49DA-AEAA-34B155EF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 sz="1100">
                <a:solidFill>
                  <a:srgbClr val="1C1D22"/>
                </a:solidFill>
              </a:rPr>
              <a:t>Разделяем измеренный путь и прогноз с неопределённостью. C++-ядро и временная память сохраняют слабые дальние цели. На полном Falcon восстановлены 13 кадров СТОП без ухудшения зафиксированных отрицательных контролей.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6c4dcee31eb407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394" y="4400000"/>
            <a:ext cx="1990000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100" b="1">
                <a:solidFill>
                  <a:schemeClr val="tx1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Data Scientist, администрирование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@kameeeeen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+7 962 100-82-62</a:t>
            </a:r>
            <a:endParaRPr sz="1200">
              <a:solidFill>
                <a:schemeClr val="tx1"/>
              </a:solidFill>
            </a:endParaRP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Sakhalin AI Center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3622118"/>
            <a:ext cx="1894354" cy="7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Каменев</a:t>
            </a:r>
            <a:br>
              <a:rPr sz="1600" b="1">
                <a:solidFill>
                  <a:schemeClr val="accent5"/>
                </a:solidFill>
              </a:rPr>
            </a:br>
            <a:r>
              <a:rPr sz="1600" b="1">
                <a:solidFill>
                  <a:schemeClr val="accent5"/>
                </a:solidFill>
              </a:rPr>
              <a:t>Александр</a:t>
            </a:r>
            <a:br>
              <a:rPr sz="1600" b="1">
                <a:solidFill>
                  <a:schemeClr val="accent5"/>
                </a:solidFill>
              </a:rPr>
            </a:br>
            <a:r>
              <a:rPr sz="1600" b="1">
                <a:solidFill>
                  <a:schemeClr val="accent5"/>
                </a:solidFill>
              </a:rPr>
              <a:t>Павлович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6712" y="4400000"/>
            <a:ext cx="1990000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Data Scientist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@linariell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+7 924 283-40-55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Sakhalin AI Center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3622118"/>
            <a:ext cx="1894354" cy="7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Полина</a:t>
            </a:r>
            <a:br>
              <a:rPr sz="1600" b="1">
                <a:solidFill>
                  <a:schemeClr val="accent5"/>
                </a:solidFill>
              </a:rPr>
            </a:br>
            <a:r>
              <a:rPr sz="1600" b="1">
                <a:solidFill>
                  <a:schemeClr val="accent5"/>
                </a:solidFill>
              </a:rPr>
              <a:t>Витковская</a:t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0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030" y="4400000"/>
            <a:ext cx="1990000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Data Scientist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@Gulliver_7774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+7 962 415-23-00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chemeClr val="tx1"/>
                </a:solidFill>
              </a:rPr>
              <a:t>Sakhalin AI Center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894354" cy="7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Марат</a:t>
            </a:r>
            <a:br>
              <a:rPr sz="1600" b="1">
                <a:solidFill>
                  <a:schemeClr val="accent5"/>
                </a:solidFill>
              </a:rPr>
            </a:br>
            <a:r>
              <a:rPr sz="1600" b="1">
                <a:solidFill>
                  <a:schemeClr val="accent5"/>
                </a:solidFill>
              </a:rPr>
              <a:t>Галиулин</a:t>
            </a: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9</a:t>
            </a:fld>
            <a:endParaRPr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91BFB6F2-BB22-4441-9145-59B4FE8D9ED9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05abcfa2edf74ef6"/>
          <a:srcRect xmlns:a="http://schemas.openxmlformats.org/drawingml/2006/main" l="0" t="303" r="0" b="3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86467" y="1816054"/>
            <a:ext cx="1722566" cy="1552901"/>
          </a:xfrm>
        </p:spPr>
      </p:pic>
      <p:pic>
        <p:nvPic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A7EB4D25-C546-440E-AC3C-10D9C64ADB40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71eb54f4b43f408a"/>
          <a:srcRect xmlns:a="http://schemas.openxmlformats.org/drawingml/2006/main" l="254" t="0" r="2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91785" y="1816054"/>
            <a:ext cx="1722566" cy="1552901"/>
          </a:xfrm>
        </p:spPr>
      </p:pic>
      <p:pic>
        <p:nvPic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AEB366D0-3474-4647-9396-0859F7985D48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445ed22015544c1b"/>
          <a:srcRect xmlns:a="http://schemas.openxmlformats.org/drawingml/2006/main" l="254" t="0" r="2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7103" y="1816054"/>
            <a:ext cx="1722566" cy="1552901"/>
          </a:xfrm>
        </p:spPr>
      </p:pic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</a:t>
            </a:r>
            <a:endParaRPr>
              <a:latin typeface="+mn-lt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dea368e464c4e8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 КОМАНДЕ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10200000" cy="934263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>
                <a:solidFill>
                  <a:srgbClr val="1C1D22"/>
                </a:solidFill>
              </a:rPr>
              <a:t>Мы пришли из разных областей и познакомились в Sakhalin AI Center, где вместе создаём сложные продукты компьютерного зрения и машинного обучения. Разный опыт помогает смотреть на задачу с нескольких сторон — от физики сенсора до промышленного ML.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10200000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>
                <a:solidFill>
                  <a:srgbClr val="1C1D22"/>
                </a:solidFill>
              </a:rPr>
              <a:t>Потоковый разбор архивов и облачные проверки обошли ограничение локального диска. Пространственное слияние восстановило 13 кадров СТОП на Falcon. Сложные кривые и малые цели на 300 м остаются границами прототипа; для них добавлены отдельные диагностические тесты.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10200000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200">
                <a:solidFill>
                  <a:srgbClr val="1C1D22"/>
                </a:solidFill>
              </a:rPr>
              <a:t>Выбрали задачу обнаружения препятствий в тоннеле: темнота, кривые, стрелки и редкие дальние отражения требуют объяснимой геометрии и проверяемой оценки риска. Цель команды: воспроизводимый прототип с понятными границами применимости.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988CDFE3-9204-4E3E-A6EB-12936AB6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4D83175D-6F02-4C1B-9ABE-477805CB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1B69A558-E6A7-430C-AD20-C46A120A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f4a938750ed4d7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11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chemeClr val="tx1"/>
                </a:solidFill>
              </a:rPr>
              <a:t>ROS 2 Humble, Docker и RViz в браузере. Вход: PointCloud2 с адаптацией осей и монтажа. Геометрия пути и габарита, C++-ядро, два ансамбля LightGBM/CatBoost, временное подтверждение. Falcon: первое совпадение человека 256,56 м по автоматической траектории. Полные новые записи: 1667/1667 сообщений, около 10 Гц в облаке.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chemeClr val="tx1"/>
                </a:solidFill>
              </a:rPr>
              <a:t>Прототип раннего предупреждения для системы беспилотного поезда. Выдаёт расстояние, габарит, неопределённость и решения СТОП / ВНИМАНИЕ. Запуск: закреплённый Docker-образ, noVNC и RViz. Дальнейшее развитие: проверка по маркерам организаторов, повышение чувствительности к малым целям, сложные кривые и испытания на целевом ПК.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024AB-8B94-4ACA-A678-E44BD24F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Реальный Falcon: первое совпадение человека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90E7-0BE1-4052-BF31-AB87EED3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2946A-F5CD-4637-AA3E-2312B46622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bf714c6424efb"/>
          <a:stretch xmlns:a="http://schemas.openxmlformats.org/drawingml/2006/main"/>
        </p:blipFill>
        <p:spPr>
          <a:xfrm xmlns:a="http://schemas.openxmlformats.org/drawingml/2006/main">
            <a:off x="1989667" y="1333500"/>
            <a:ext cx="8212667" cy="4619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E8084-8C9E-47F3-86E7-C70C60CC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256,56 м по автоматической траектории. Это наблюдение одной цели</a:t>
            </a:r>
          </a:p>
        </p:txBody>
      </p:sp>
    </p:spTree>
    <p:extLst>
      <p:ext uri="{BB962C8B-B14F-4D97-AF65-F5344CB8AC3E}">
        <p14:creationId xmlns:p14="http://schemas.microsoft.com/office/powerpoint/2010/main" val="13469495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F82DA-3E86-4570-A342-06E36C1A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Гибридная 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51EC4-315D-4AC9-B899-54E88393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17475-03BD-41DD-893C-41464AF0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525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02CE-2634-4022-ACF9-301597AF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15049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Вход и адаптация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44A9F-ED79-4B51-A1DF-D3139746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1914525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PointCloud2, ось вперёд, наклон и крен, угловая плотность сенсора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27710-8677-4651-8AA9-16DAD5F0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98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7C0E8-9F80-4FA0-AB89-E1E87BB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562225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Путь и габарит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B73E4-F684-4D99-9429-80F29E2F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9718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Парные рельсы, шаблон тоннеля, непрерывность пути, оценка неопределённости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DCFC8-9C02-4DF3-A5D8-F4D2E605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31C41-4ACB-48AC-AA39-0FB830B7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61950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Кандидаты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FC170-276B-4EEC-84D8-925D1EF4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029075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Физические тесты и два специалиста: ½ LightGBM + ½ CatBoost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D60D9B-E0F9-4791-A8F6-491643AE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1228A-A181-4DD8-BA69-ADFE67DF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676775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Решение во времени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FB683-6654-4260-8068-1D1C6B04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08635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Слияние по пространству, дальняя память, трек, ВНИМАНИЕ и СТОП</a:t>
            </a:r>
          </a:p>
        </p:txBody>
      </p:sp>
    </p:spTree>
    <p:extLst>
      <p:ext uri="{BB962C8B-B14F-4D97-AF65-F5344CB8AC3E}">
        <p14:creationId xmlns:p14="http://schemas.microsoft.com/office/powerpoint/2010/main" val="20076859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759116-B68C-40E4-B1FD-752BB533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Устойчивость СТОП после пространственного исправления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196B2-5EA3-4CAB-ACA6-11DCDAFF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B6F90C49-A25C-49B3-94B1-CF8199490530}"/>
              </a:ext>
            </a:extLst>
          </p:cNvPr>
          <p:cNvGraphicFramePr/>
          <p:nvPr/>
        </p:nvGraphicFramePr>
        <p:xfrm>
          <a:off xmlns:a="http://schemas.openxmlformats.org/drawingml/2006/main" x="666750" y="1666875"/>
          <a:ext xmlns:a="http://schemas.openxmlformats.org/drawingml/2006/main" cx="6191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f139c34267485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45229-9B87-4FF9-B1B5-56E2130F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666875"/>
            <a:ext cx="95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705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BA529-3A3D-44D2-813C-5195077F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09725"/>
            <a:ext cx="95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718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5DC0A-C4D6-4FAB-AABC-C8356407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62125"/>
            <a:ext cx="419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13 кадров восстановлены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AE02D3-8905-486F-9E5A-CA437CB5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57500"/>
            <a:ext cx="40957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24 → 11</a:t>
            </a:r>
          </a:p>
          <a:p xmlns:a="http://schemas.openxmlformats.org/drawingml/2006/main">
            <a: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кадров без СТОП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1,7 → 1,0 с</a:t>
            </a:r>
          </a:p>
          <a:p xmlns:a="http://schemas.openxmlformats.org/drawingml/2006/main">
            <a: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максимальный провал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9A7CC-8AEA-4587-A9DC-0B0D8B65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43575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Знаменатель: 729 кадров. Детекции и отрицательные контроли сохранены</a:t>
            </a:r>
          </a:p>
        </p:txBody>
      </p:sp>
    </p:spTree>
    <p:extLst>
      <p:ext uri="{BB962C8B-B14F-4D97-AF65-F5344CB8AC3E}">
        <p14:creationId xmlns:p14="http://schemas.microsoft.com/office/powerpoint/2010/main" val="1506955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9CBB2-EF9B-410A-90A5-2BF0EAE9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Данные квалификации и финала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E3C84-AF62-45C4-94DA-0400D76B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FB85E-D1FB-4BDB-8DEE-0049C9A6B70E}"/>
              </a:ext>
            </a:extLst>
          </p:cNvPr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11049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5429250"/>
                <a:gridCol w="2095500"/>
              </a:tblGrid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Источник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Тип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Проверенные кадры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falcon_test.zst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Реальная запись: поезд и человек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4443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cloud_with_fake_obj.zst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Квалификация с искусственными объектами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1510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new_synth_data.zst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Синтетика организаторов: три сцены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1667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Наши инъекции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17 дальностей, известное положение цели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68 + 255 условий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60E4F-6837-4171-9A7C-E054BA14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95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Архив квалификации восстановлен и проверен по SHA-256. Новые маркеры организаторов получены отдельно от наших инъекций</a:t>
            </a:r>
          </a:p>
        </p:txBody>
      </p:sp>
    </p:spTree>
    <p:extLst>
      <p:ext uri="{BB962C8B-B14F-4D97-AF65-F5344CB8AC3E}">
        <p14:creationId xmlns:p14="http://schemas.microsoft.com/office/powerpoint/2010/main" val="9610540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E0478-9A58-40CC-AD65-1DCED20A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Полные новые записи: около 10 Гц в ROS и RViz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840841-B18B-495D-9CD0-52DC0403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1E01C-A741-411A-861E-24798A958449}"/>
              </a:ext>
            </a:extLst>
          </p:cNvPr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110490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2095500"/>
                <a:gridCol w="2571750"/>
                <a:gridCol w="3143250"/>
              </a:tblGrid>
              <a:tr h="762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Сцена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Получено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Частота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p95 callback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Платформа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386/386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9,9918 Гц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62,97 мс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Стрелка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736/736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9,9976 Гц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56,54 мс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Тоннель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545/545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10,0004 Гц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57,53 мс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3EBDB-D09D-4BBC-A1D2-E0878055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C++-геометрия, 46 native-тестов. Короткий Falcon: три раза по 301/301 после ожидания DDS ACK последнего скана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41C35-C27A-49D9-B4C6-2D9F17A6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34075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Средняя частота не гарантирует каждый период 100 мс. На другом ПК требуется измерение</a:t>
            </a:r>
          </a:p>
        </p:txBody>
      </p:sp>
    </p:spTree>
    <p:extLst>
      <p:ext uri="{BB962C8B-B14F-4D97-AF65-F5344CB8AC3E}">
        <p14:creationId xmlns:p14="http://schemas.microsoft.com/office/powerpoint/2010/main" val="17187048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5352C-7A29-45CB-B0F0-61125994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Проверка дальности на реальном фоне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CD343-99CC-4F78-9DD4-9633083C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AA7CBFB9-8F45-454A-A9F7-F5AEB75784F6}"/>
              </a:ext>
            </a:extLst>
          </p:cNvPr>
          <p:cNvGraphicFramePr/>
          <p:nvPr/>
        </p:nvGraphicFramePr>
        <p:xfrm>
          <a:off xmlns:a="http://schemas.openxmlformats.org/drawingml/2006/main" x="571500" y="1695450"/>
          <a:ext xmlns:a="http://schemas.openxmlformats.org/drawingml/2006/main" cx="11049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6ea50f5cce42f6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B0227-7CA9-4E31-A3F9-71A95B4A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195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Человек-прокси: доля из 50 кадров, %. 17 расстояний от 60 до 300 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E7018-5521-4DD3-967A-535F0627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4360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Диагностика чувствительности и пропусков. Общие реальные фоны ограничивают независимость оценки</a:t>
            </a:r>
          </a:p>
        </p:txBody>
      </p:sp>
    </p:spTree>
    <p:extLst>
      <p:ext uri="{BB962C8B-B14F-4D97-AF65-F5344CB8AC3E}">
        <p14:creationId xmlns:p14="http://schemas.microsoft.com/office/powerpoint/2010/main" val="1759776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FFDE1-2421-45DE-B03F-ED304384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Анатомический человек: внутри и снаружи габарита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DFC35-6301-4AE5-B852-9AEEA5B0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74A78-1D58-4CE6-BE3B-2A99D4AB2F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ec255ca3841a0"/>
          <a:stretch xmlns:a="http://schemas.openxmlformats.org/drawingml/2006/main"/>
        </p:blipFill>
        <p:spPr>
          <a:xfrm xmlns:a="http://schemas.openxmlformats.org/drawingml/2006/main">
            <a:off x="953294" y="1504950"/>
            <a:ext cx="10285413" cy="39814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013BF-5685-4F8B-8186-309842F4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60–215 м: 48/50 детекций. 250 м: 47/50. 300 м: 8/50, СТОП 0/50. Вне пути: 0/1700 предупреждений и СТОП</a:t>
            </a:r>
          </a:p>
        </p:txBody>
      </p:sp>
    </p:spTree>
    <p:extLst>
      <p:ext uri="{BB962C8B-B14F-4D97-AF65-F5344CB8AC3E}">
        <p14:creationId xmlns:p14="http://schemas.microsoft.com/office/powerpoint/2010/main" val="11190731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43208-E665-46AA-B06C-F5178A30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Новые маркеры и сценарии организаторов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87647-708F-4811-8E3F-87057DA0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02250-9A50-4F92-8E43-F0719C67F294}"/>
              </a:ext>
            </a:extLst>
          </p:cNvPr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11049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91500"/>
              </a:tblGrid>
              <a:tr h="7858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Запись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3DCC4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Состав последовательности из obstacles.md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T w="9525">
                      <a:solidFill>
                        <a:srgbClr val="2E4A60"/>
                      </a:solidFill>
                    </a:lnT>
                    <a:lnB w="9525">
                      <a:solidFill>
                        <a:srgbClr val="2E4A60"/>
                      </a:solidFill>
                    </a:lnB>
                    <a:solidFill>
                      <a:srgbClr val="18354B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Платформа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Пыль, малые кубы справа и слева, человек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Стрелка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Малые кубы, наклонный подвесной кабель, четыре облака пыли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Тоннель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2E4A60"/>
                      </a:solidFill>
                    </a:lnL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6F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Малые кубы, куб 2×2×2 м, балка поперёк рельсов, пыль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2E4A60"/>
                      </a:solidFill>
                    </a:lnR>
                    <a:lnB w="9525">
                      <a:solidFill>
                        <a:srgbClr val="2E4A60"/>
                      </a:solidFill>
                    </a:lnB>
                    <a:solidFill>
                      <a:srgbClr val="09172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5D3C56-DE04-4C15-BA90-1DE1AB7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1667 кадров обработаны с замороженным native-детектором. Экспортированы положение, ориентация и размеры маркеров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3B5A0B-AC47-4917-981C-64A0F7F1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Семантика классов и ожидаемая реакция проверяются отдельно от геометрического совпадения</a:t>
            </a:r>
          </a:p>
        </p:txBody>
      </p:sp>
    </p:spTree>
    <p:extLst>
      <p:ext uri="{BB962C8B-B14F-4D97-AF65-F5344CB8AC3E}">
        <p14:creationId xmlns:p14="http://schemas.microsoft.com/office/powerpoint/2010/main" val="3397372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D8BED-1E7D-4CBB-A299-BE734D6F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Пыль и человек вне пути: отрицательные контроли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3329F-B2E6-4A29-BBB4-0C09FE98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5BD6B-D904-45B0-8D93-6D951011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0 / 2550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D6B09-9C62-4A51-AF9A-B4AE5F29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нежелательных СТОП</a:t>
            </a:r>
          </a:p>
          <a:p xmlns:a="http://schemas.openxmlformats.org/drawingml/2006/main">
            <a: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у пылевой инъекции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E7E8E-8F3E-40BC-8706-06560DEB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510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0 / 2550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13EAF-8EB1-476E-98AD-8162B322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предупреждений и СТОП</a:t>
            </a:r>
          </a:p>
          <a:p xmlns:a="http://schemas.openxmlformats.org/drawingml/2006/main">
            <a:pPr>
              <a:def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25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у человека вне пути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3DCF9-78C5-44C4-A233-E76B90E0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475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Флаг рассеяния информационный. Пыль не должна запускать торможение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7959A-0BE8-4B7B-AED8-4F509B4C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292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Эти нули относятся к зафиксированной синтетике. Новые сцены организаторов требуют сопоставления с их маркерами</a:t>
            </a:r>
          </a:p>
        </p:txBody>
      </p:sp>
    </p:spTree>
    <p:extLst>
      <p:ext uri="{BB962C8B-B14F-4D97-AF65-F5344CB8AC3E}">
        <p14:creationId xmlns:p14="http://schemas.microsoft.com/office/powerpoint/2010/main" val="17478631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C1B09-D2BE-4E89-B57B-D4F3EEEA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Фильтр провода и устойчивость дальних целей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351CB-3FDE-4890-8D73-9EAB3E5C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73174-53CE-4D91-8E9B-8905AE9A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450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21 кадр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05128-7B6F-4980-B7B2-F5D1A10C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памяти предупреждений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97EE6F-A2C1-4206-81C2-67515EE4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defPPr>
            <a:lvl1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defRPr>
            </a:pPr>
            <a:r>
              <a:rPr sz="4500" b="1">
                <a:solidFill>
                  <a:srgbClr val="F8C76C"/>
                </a:solidFill>
                <a:latin typeface="Montserrat"/>
                <a:ea typeface="Montserrat"/>
                <a:cs typeface="Montserrat"/>
              </a:rPr>
              <a:t>15 кадров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A2FCE-30E7-4A47-A7DD-961442B9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окно свежих доказательств СТОП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2301B-672C-4C12-BA7E-C1A5F25D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Подтверждённый трек удерживается до 10 кадров. Синтетический провал 0,5 с: 0/5 → 5/5 кадров СТОП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096848-7CF5-4BF1-832D-23EB2AC7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5782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Точный исходный реальный провод требует отдельного подтверждения. Новая сцена содержит наклонный кабель с маркером</a:t>
            </a:r>
          </a:p>
        </p:txBody>
      </p:sp>
    </p:spTree>
    <p:extLst>
      <p:ext uri="{BB962C8B-B14F-4D97-AF65-F5344CB8AC3E}">
        <p14:creationId xmlns:p14="http://schemas.microsoft.com/office/powerpoint/2010/main" val="12911089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DC0BD-E668-44D3-878C-05DDC895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Границы и следующие технические улучшения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511A50-292D-47D0-ACCE-B67E88D7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EE131-065E-4D0E-8663-462E6585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Малые дальние цели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8A52DC-E094-4DD8-AB81-670D260B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Накопление с компенсацией движения и неопределённости. Проверка нескольких поз, отражаемостей и фаз скана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449FC-B7FC-4C4B-B797-BB316E6E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289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Кривые и стрелки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15A84-08B2-4CA8-B332-9C3508BC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Несколько гипотез пути, связь пары рельсов, проверка смены кривизны и ограничение экстраполяции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216E5-202E-4743-BA80-35001A3F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72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Проверка ошибок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12C9E-E178-470E-A950-0D46A7B8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720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Геометрические маркеры, порядок из obstacles.md, отрицательные сцены и раздельные показатели по типу цели</a:t>
            </a:r>
          </a:p>
        </p:txBody>
      </p:sp>
    </p:spTree>
    <p:extLst>
      <p:ext uri="{BB962C8B-B14F-4D97-AF65-F5344CB8AC3E}">
        <p14:creationId xmlns:p14="http://schemas.microsoft.com/office/powerpoint/2010/main" val="15102082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0F906-CF09-4741-A078-23FCC200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Запуск на компьютере экспертов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92A80-9649-440F-AB44-2C22C3E9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E0500-A426-4C91-9908-A098BA95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9725"/>
            <a:ext cx="11049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Docker + Compose, Linux containers</a:t>
            </a:r>
          </a:p>
          <a:p xmlns:a="http://schemas.openxmlformats.org/drawingml/2006/main">
            <a: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Готовый образ по SHA-256 digest</a:t>
            </a:r>
          </a:p>
          <a:p xmlns:a="http://schemas.openxmlformats.org/drawingml/2006/main">
            <a: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RViz в браузере через noVNC</a:t>
            </a:r>
          </a:p>
          <a:p xmlns:a="http://schemas.openxmlformats.org/drawingml/2006/main">
            <a:pPr>
              <a:def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2400" b="0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Пауза, скорость, шаг и смена бэга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FE36D-6114-490C-919E-5635000A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docker compose -f compose.repro.yaml pull</a:t>
            </a:r>
          </a:p>
          <a:p xmlns:a="http://schemas.openxmlformats.org/drawingml/2006/main">
            <a: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docker compose -f compose.repro.yaml up -d</a:t>
            </a:r>
          </a:p>
          <a:p xmlns:a="http://schemas.openxmlformats.org/drawingml/2006/main">
            <a:pPr>
              <a:def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docker compose -f compose.repro.yaml exec tunnelguard 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7AF1D-977E-4576-95E5-22AFE5E3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Внутри контейнера: tg play /data/имя_бэга 1.0 --start-paused. CI: 301/301 ROS/RViz, 12/12 операций управления. Подробная инструкция — в README</a:t>
            </a:r>
          </a:p>
        </p:txBody>
      </p:sp>
    </p:spTree>
    <p:extLst>
      <p:ext uri="{BB962C8B-B14F-4D97-AF65-F5344CB8AC3E}">
        <p14:creationId xmlns:p14="http://schemas.microsoft.com/office/powerpoint/2010/main" val="20343351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17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A40DC-1E55-4BD7-946B-83797674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330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Демонстрация и воспроизводимые результаты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2E2EB-264A-4E09-9E0E-C5FDBEFD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defPPr>
            <a:lvl1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1pPr>
            <a:lvl2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2pPr>
            <a:lvl3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3pPr>
            <a:lvl4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4pPr>
            <a:lvl5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5pPr>
            <a:lvl6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6pPr>
            <a:lvl7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7pPr>
            <a:lvl8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8pPr>
            <a:lvl9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A9BED2"/>
                </a:solidFill>
                <a:latin typeface="Montserrat"/>
                <a:ea typeface="Montserrat"/>
                <a:cs typeface="Montserrat"/>
              </a:rPr>
              <a:t>СахалИИн  /  TunnelGuard  /  финал ЛЦТ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11E08-5DA0-4802-BA08-65B1936F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525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defPPr>
            <a:lvl1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1pPr>
            <a:lvl2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2pPr>
            <a:lvl3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3pPr>
            <a:lvl4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4pPr>
            <a:lvl5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5pPr>
            <a:lvl6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6pPr>
            <a:lvl7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7pPr>
            <a:lvl8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8pPr>
            <a:lvl9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defRPr>
            </a:pPr>
            <a:r>
              <a:rPr sz="4950" b="1">
                <a:solidFill>
                  <a:srgbClr val="F1F6FC"/>
                </a:solidFill>
                <a:latin typeface="Montserrat"/>
                <a:ea typeface="Montserrat"/>
                <a:cs typeface="Montserrat"/>
              </a:rPr>
              <a:t>СахалИИн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6C6E9-C930-4148-AD38-2080E1A0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100" u="sng">
                <a:solidFill>
                  <a:srgbClr val="43DCC4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ed698ccf7d3f46a7"/>
              </a:rPr>
              <a:t>Интерактивный сайт и видео 7:20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B3833-413D-4AA9-B525-1DBD08C1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100" u="sng">
                <a:solidFill>
                  <a:srgbClr val="43DCC4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24e114ab5f704b1f"/>
              </a:rPr>
              <a:t>Код, README и исходные результаты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C8D49-7D63-420E-AB02-E0A58309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100" u="sng">
                <a:solidFill>
                  <a:srgbClr val="43DCC4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374bb61d4f6e43ca"/>
              </a:rPr>
              <a:t>Версия квалификационного этапа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33609-E731-426C-B9DC-A23854AD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defPPr>
            <a:lvl1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1pPr>
            <a:lvl2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2pPr>
            <a:lvl3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3pPr>
            <a:lvl4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4pPr>
            <a:lvl5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5pPr>
            <a:lvl6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6pPr>
            <a:lvl7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7pPr>
            <a:lvl8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8pPr>
            <a:lvl9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defRPr>
            </a:pPr>
            <a:r>
              <a:rPr sz="2475" b="1">
                <a:solidFill>
                  <a:srgbClr val="43DCC4"/>
                </a:solidFill>
                <a:latin typeface="Montserrat"/>
                <a:ea typeface="Montserrat"/>
                <a:cs typeface="Montserrat"/>
              </a:rPr>
              <a:t>Геометрия объясняет решение. Тесты показывают его границы</a:t>
            </a:r>
          </a:p>
        </p:txBody>
      </p:sp>
    </p:spTree>
    <p:extLst>
      <p:ext uri="{BB962C8B-B14F-4D97-AF65-F5344CB8AC3E}">
        <p14:creationId xmlns:p14="http://schemas.microsoft.com/office/powerpoint/2010/main" val="1356829926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2026-10-20T00:02:47.9100000Z</dcterms:created>
  <dcterms:modified xsi:type="dcterms:W3CDTF">2026-10-20T00:02:47.9100000Z</dcterms:modified>
</coreProperties>
</file>